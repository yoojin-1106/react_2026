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A401E2-67D2-43E1-A663-688EA8EBCC4E}">
  <a:tblStyle styleId="{07A401E2-67D2-43E1-A663-688EA8EBCC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3e194451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3e1944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3e194451_0_1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3e1944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3e194451_0_3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3e19445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f3e194451_0_5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f3e19445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f3e194451_0_7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f3e1944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3e194451_0_7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3e19445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f3e194451_0_10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f3e19445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f3e194451_0_10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f3e19445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f3e194451_0_13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f3e19445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f3e194451_0_1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f3e19445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f6efd87b3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f6efd87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f6efd87b3_0_2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f6efd87b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f6efd87b3_0_4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f6efd87b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f6efd87b3_0_6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f6efd87b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f6efd87b3_0_7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f6efd87b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6efd87b3_0_8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f6efd87b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f6efd87b3_0_9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f6efd87b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f6efd87b3_0_9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f6efd87b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f6efd87b3_0_10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f6efd87b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f6efd87b3_0_10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f6efd87b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f6efd87b3_0_11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f6efd87b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f6efd87b3_0_11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f6efd87b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f6efd87b3_0_12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f6efd87b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f6efd87b3_0_12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f6efd87b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f6efd87b3_0_14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f6efd87b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f6efd87b3_0_14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f6efd87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fccd4d00f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fccd4d0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fccd4d00f_0_1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fccd4d0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fccd4d00f_0_2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fccd4d0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fccd4d00f_0_3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fccd4d00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fccd4d00f_0_5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fccd4d0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fccd4d00f_0_8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fccd4d0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fccd4d00f_0_9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fccd4d00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fccd4d00f_0_10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fccd4d00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fccd4d00f_0_11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efccd4d00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2c6fa3891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2c6fa38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33fec39c2_0_2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33fec39c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33fec39c2_0_6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33fec39c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33fec39c2_0_10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f33fec39c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2c6fa3891_0_1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2c6fa389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2c6fa3891_0_1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2c6fa38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2c6fa3891_0_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f2c6fa389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0515a3c2c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0515a3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0515a4224_0_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f0515a42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0f1c6361b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0f1c636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0f1c6361b_0_1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f0f1c636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0f1c6361b_0_2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0f1c6361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33fec39c2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f33fec39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33fec39c2_0_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f33fec39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33fec39c2_0_2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f33fec39c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383b6868a_0_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383b686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383b6868a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f383b686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383b6868a_0_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383b686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383b6868a_0_5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f383b6868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f383b6868a_0_5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f383b6868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f383b6868a_0_6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f383b6868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383b6868a_0_6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f383b6868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383b6868a_0_7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f383b6868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383b6868a_0_7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f383b6868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7d47b8d73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f7d47b8d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f7d47b8d73_0_1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f7d47b8d7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f7d47b8d73_0_4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f7d47b8d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4426f7f27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4426f7f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4426f7f27_0_3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4426f7f2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f7e8bf688a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f7e8bf6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f816869297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f8168692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f816869297_0_2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f8168692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816869297_0_3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f8168692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f816869297_0_5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f81686929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f816869297_0_5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f81686929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f8263842f0_0_1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f8263842f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f8263842f0_0_3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f8263842f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naver.com" TargetMode="External"/><Relationship Id="rId4" Type="http://schemas.openxmlformats.org/officeDocument/2006/relationships/hyperlink" Target="http://www.naver.com" TargetMode="External"/><Relationship Id="rId5" Type="http://schemas.openxmlformats.org/officeDocument/2006/relationships/hyperlink" Target="http://www.naver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xample.com/user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example.com/users).the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naver.com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todo.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user.nam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://user.nam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www.naver.com/payment" TargetMode="External"/><Relationship Id="rId4" Type="http://schemas.openxmlformats.org/officeDocument/2006/relationships/hyperlink" Target="http://www.82cook.com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www.82cook.com/entiz/read.php?bn=15&amp;num=4211458&amp;page=1" TargetMode="External"/><Relationship Id="rId4" Type="http://schemas.openxmlformats.org/officeDocument/2006/relationships/hyperlink" Target="http://www.82cook.com" TargetMode="External"/><Relationship Id="rId5" Type="http://schemas.openxmlformats.org/officeDocument/2006/relationships/hyperlink" Target="https://www.82cook.com/entiz/read.php?bn=15&amp;num=4211458&amp;page=1" TargetMode="External"/><Relationship Id="rId6" Type="http://schemas.openxmlformats.org/officeDocument/2006/relationships/hyperlink" Target="http://localhost:5173/contact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82cook.com/biz/index.php?page=1&amp;bn=15" TargetMode="External"/><Relationship Id="rId4" Type="http://schemas.openxmlformats.org/officeDocument/2006/relationships/hyperlink" Target="http://localhost:5173/products/1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://posts.js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강서 클라우드기반 AI활용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리액트 개발자 양성과정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2026.06.25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50075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프론트앤드와 백앤드 ( 3 - 티어 아키텍쳐)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89000" y="1502528"/>
            <a:ext cx="1599900" cy="3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97650" y="1683639"/>
            <a:ext cx="1358400" cy="3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www.naver.com</a:t>
            </a:r>
            <a:endParaRPr sz="1300"/>
          </a:p>
        </p:txBody>
      </p:sp>
      <p:sp>
        <p:nvSpPr>
          <p:cNvPr id="63" name="Google Shape;63;p14"/>
          <p:cNvSpPr/>
          <p:nvPr/>
        </p:nvSpPr>
        <p:spPr>
          <a:xfrm>
            <a:off x="3412350" y="1470639"/>
            <a:ext cx="5420100" cy="3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서버존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225425" y="2830667"/>
            <a:ext cx="1050408" cy="9189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721725" y="1978778"/>
            <a:ext cx="1574100" cy="2810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html/css/image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(화면 구성요소, UI)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-프론트앤드개발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680175" y="1978778"/>
            <a:ext cx="1446000" cy="2810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 어플리케이션서버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로그인/게시판글작성/가져오기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(로직처리)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database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백앤드개발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510525" y="1940528"/>
            <a:ext cx="1119600" cy="2810700"/>
          </a:xfrm>
          <a:prstGeom prst="can">
            <a:avLst>
              <a:gd fmla="val 25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데이터베이스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로직처리 사용되는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영구데이어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(게시판 회원)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-5400000">
            <a:off x="5337794" y="3618863"/>
            <a:ext cx="484800" cy="2825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780850" y="5167500"/>
            <a:ext cx="3851100" cy="484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풀스택 개발(full stack developer)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 rot="5400000">
            <a:off x="6850619" y="332080"/>
            <a:ext cx="484800" cy="2825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128700" y="894222"/>
            <a:ext cx="2795700" cy="484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백앤드개발자역할(backend)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 및 인터넷 동작 방식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98450" y="1569611"/>
            <a:ext cx="14910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클라인트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(브라우저-크롬)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764675" y="1463917"/>
            <a:ext cx="22788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웹서버-컴퓨터</a:t>
            </a:r>
            <a:r>
              <a:rPr lang="en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535375" y="2569056"/>
            <a:ext cx="1125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네트워크 인터페이스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998375" y="2579167"/>
            <a:ext cx="10683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네트워크인터페이스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495350" y="2453500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(프로그램)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495350" y="3497139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프로그램)</a:t>
            </a:r>
            <a:endParaRPr/>
          </a:p>
        </p:txBody>
      </p:sp>
      <p:cxnSp>
        <p:nvCxnSpPr>
          <p:cNvPr id="83" name="Google Shape;83;p15"/>
          <p:cNvCxnSpPr>
            <a:endCxn id="81" idx="1"/>
          </p:cNvCxnSpPr>
          <p:nvPr/>
        </p:nvCxnSpPr>
        <p:spPr>
          <a:xfrm flipH="1" rot="10800000">
            <a:off x="2507650" y="2794600"/>
            <a:ext cx="2987700" cy="11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endCxn id="82" idx="1"/>
          </p:cNvCxnSpPr>
          <p:nvPr/>
        </p:nvCxnSpPr>
        <p:spPr>
          <a:xfrm>
            <a:off x="2482150" y="2921139"/>
            <a:ext cx="3013200" cy="9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/>
          <p:nvPr/>
        </p:nvSpPr>
        <p:spPr>
          <a:xfrm>
            <a:off x="5539000" y="4458528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</a:t>
            </a:r>
            <a:r>
              <a:rPr lang="en"/>
              <a:t>서버1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(프로그램)</a:t>
            </a:r>
            <a:endParaRPr/>
          </a:p>
        </p:txBody>
      </p:sp>
      <p:cxnSp>
        <p:nvCxnSpPr>
          <p:cNvPr id="86" name="Google Shape;86;p15"/>
          <p:cNvCxnSpPr>
            <a:endCxn id="85" idx="1"/>
          </p:cNvCxnSpPr>
          <p:nvPr/>
        </p:nvCxnSpPr>
        <p:spPr>
          <a:xfrm>
            <a:off x="2456500" y="2942628"/>
            <a:ext cx="3082500" cy="18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6595700" y="26205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</a:t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627700" y="36230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8080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627700" y="46255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433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7433775" y="1463861"/>
            <a:ext cx="18489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80: </a:t>
            </a:r>
            <a:r>
              <a:rPr lang="en"/>
              <a:t>기본 웹서버포트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433: https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0번 - 1023번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1024번 49151번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nodejs/react : 3000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2642525" y="2423884"/>
            <a:ext cx="1304640" cy="141436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도메인 동작방식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localhost:3000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160925" y="1504000"/>
            <a:ext cx="2433000" cy="74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로컬 dns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127.0.0.1. localhost </a:t>
            </a:r>
            <a:endParaRPr/>
          </a:p>
        </p:txBody>
      </p:sp>
      <p:cxnSp>
        <p:nvCxnSpPr>
          <p:cNvPr id="100" name="Google Shape;100;p16"/>
          <p:cNvCxnSpPr>
            <a:stCxn id="98" idx="3"/>
            <a:endCxn id="99" idx="1"/>
          </p:cNvCxnSpPr>
          <p:nvPr/>
        </p:nvCxnSpPr>
        <p:spPr>
          <a:xfrm flipH="1" rot="10800000">
            <a:off x="2650300" y="1878967"/>
            <a:ext cx="15105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 txBox="1"/>
          <p:nvPr/>
        </p:nvSpPr>
        <p:spPr>
          <a:xfrm>
            <a:off x="6972700" y="1375083"/>
            <a:ext cx="218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127.0.0.1 IP 주소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029150" y="2063306"/>
            <a:ext cx="218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localhost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도메인이름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 flipH="1">
            <a:off x="2655025" y="2168000"/>
            <a:ext cx="1464900" cy="1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 txBox="1"/>
          <p:nvPr/>
        </p:nvSpPr>
        <p:spPr>
          <a:xfrm>
            <a:off x="2923600" y="1179972"/>
            <a:ext cx="14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localhost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873700" y="2253667"/>
            <a:ext cx="14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127.0.0.1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403400" y="3468806"/>
            <a:ext cx="1765800" cy="119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노드JS 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127.0.0.1 3000 </a:t>
            </a:r>
            <a:endParaRPr/>
          </a:p>
        </p:txBody>
      </p:sp>
      <p:cxnSp>
        <p:nvCxnSpPr>
          <p:cNvPr id="107" name="Google Shape;107;p16"/>
          <p:cNvCxnSpPr>
            <a:stCxn id="98" idx="2"/>
            <a:endCxn id="106" idx="1"/>
          </p:cNvCxnSpPr>
          <p:nvPr/>
        </p:nvCxnSpPr>
        <p:spPr>
          <a:xfrm>
            <a:off x="1627000" y="2253667"/>
            <a:ext cx="1776300" cy="18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6"/>
          <p:cNvCxnSpPr/>
          <p:nvPr/>
        </p:nvCxnSpPr>
        <p:spPr>
          <a:xfrm rot="10800000">
            <a:off x="1471250" y="2331500"/>
            <a:ext cx="1842600" cy="19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도메인 동작방식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www.82cook.com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342825" y="2423884"/>
            <a:ext cx="1304640" cy="141436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781300" y="872000"/>
            <a:ext cx="2722800" cy="106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www.naver.com</a:t>
            </a:r>
            <a:r>
              <a:rPr lang="en">
                <a:solidFill>
                  <a:schemeClr val="dk1"/>
                </a:solidFill>
              </a:rPr>
              <a:t> 203.248.252.2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052650" y="2597528"/>
            <a:ext cx="1593600" cy="262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203.248.252.2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www.naver.com</a:t>
            </a:r>
            <a:r>
              <a:rPr lang="en"/>
              <a:t> 서비스하는 서버</a:t>
            </a:r>
            <a:endParaRPr/>
          </a:p>
        </p:txBody>
      </p:sp>
      <p:cxnSp>
        <p:nvCxnSpPr>
          <p:cNvPr id="119" name="Google Shape;119;p17"/>
          <p:cNvCxnSpPr>
            <a:stCxn id="115" idx="3"/>
            <a:endCxn id="117" idx="1"/>
          </p:cNvCxnSpPr>
          <p:nvPr/>
        </p:nvCxnSpPr>
        <p:spPr>
          <a:xfrm flipH="1" rot="10800000">
            <a:off x="2650300" y="1406167"/>
            <a:ext cx="213090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 txBox="1"/>
          <p:nvPr/>
        </p:nvSpPr>
        <p:spPr>
          <a:xfrm>
            <a:off x="2778700" y="1130806"/>
            <a:ext cx="200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www.naver.com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IP가 몇번이야?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 flipH="1">
            <a:off x="2501350" y="1734417"/>
            <a:ext cx="2245500" cy="7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7"/>
          <p:cNvSpPr txBox="1"/>
          <p:nvPr/>
        </p:nvSpPr>
        <p:spPr>
          <a:xfrm>
            <a:off x="2873700" y="1940667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203.248.252.2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3" name="Google Shape;123;p17"/>
          <p:cNvCxnSpPr/>
          <p:nvPr/>
        </p:nvCxnSpPr>
        <p:spPr>
          <a:xfrm flipH="1" rot="10800000">
            <a:off x="2494975" y="3376600"/>
            <a:ext cx="4478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7"/>
          <p:cNvSpPr txBox="1"/>
          <p:nvPr/>
        </p:nvSpPr>
        <p:spPr>
          <a:xfrm>
            <a:off x="4938925" y="2973153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http://</a:t>
            </a:r>
            <a:r>
              <a:rPr lang="en" sz="1200">
                <a:solidFill>
                  <a:schemeClr val="dk2"/>
                </a:solidFill>
              </a:rPr>
              <a:t>203.248.252.2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5" name="Google Shape;125;p17"/>
          <p:cNvCxnSpPr/>
          <p:nvPr/>
        </p:nvCxnSpPr>
        <p:spPr>
          <a:xfrm rot="10800000">
            <a:off x="2475850" y="3710328"/>
            <a:ext cx="45165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4304450" y="3789347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네이버 홈페이지 html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98850" y="3653014"/>
            <a:ext cx="200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네이버 홈페이지 html </a:t>
            </a:r>
            <a:r>
              <a:rPr lang="en" sz="1200">
                <a:solidFill>
                  <a:schemeClr val="dk2"/>
                </a:solidFill>
              </a:rPr>
              <a:t>파싱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html/css/image -&gt; UI 그려줍니다.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관계형데이터베이스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테이블로 데이터를 저장하는데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엑셀 과 유사한 형식으로 데이터를 저장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3-티어 아키텍처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3100" y="1087972"/>
            <a:ext cx="9117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(크롬)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html/css/js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2870000" y="1087972"/>
            <a:ext cx="12471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(Web)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html/css/js 서빙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nginx, apache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start dev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http://localhost:3000</a:t>
            </a:r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1466350" y="1510917"/>
            <a:ext cx="1322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9"/>
          <p:cNvSpPr txBox="1"/>
          <p:nvPr/>
        </p:nvSpPr>
        <p:spPr>
          <a:xfrm>
            <a:off x="1310200" y="960861"/>
            <a:ext cx="16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http://naver.com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820875" y="1087972"/>
            <a:ext cx="15207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 나 저장소에서 데이터를 가지고 와서 Web 서버에전달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비즈니스로직(글목록, 글작성, 수정)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Tomcat, Express Django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7425725" y="1130806"/>
            <a:ext cx="1634400" cy="2652600"/>
          </a:xfrm>
          <a:prstGeom prst="can">
            <a:avLst>
              <a:gd fmla="val 25000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DB(Database)MS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게시판..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비즈니스 데이터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….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521238" y="3063000"/>
            <a:ext cx="724800" cy="2240700"/>
          </a:xfrm>
          <a:prstGeom prst="can">
            <a:avLst>
              <a:gd fmla="val 25000" name="adj"/>
            </a:avLst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자주쓰고 읽기 자주되는 데이털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메모리에 저장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캐시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3246025" y="696278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1티어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5218825" y="696278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2티어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827675" y="663694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3티어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10800000">
            <a:off x="1472550" y="4316889"/>
            <a:ext cx="124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9"/>
          <p:cNvSpPr/>
          <p:nvPr/>
        </p:nvSpPr>
        <p:spPr>
          <a:xfrm>
            <a:off x="4612100" y="466500"/>
            <a:ext cx="4531800" cy="463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19"/>
          <p:cNvCxnSpPr/>
          <p:nvPr/>
        </p:nvCxnSpPr>
        <p:spPr>
          <a:xfrm>
            <a:off x="4150400" y="1819500"/>
            <a:ext cx="612000" cy="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9"/>
          <p:cNvSpPr txBox="1"/>
          <p:nvPr/>
        </p:nvSpPr>
        <p:spPr>
          <a:xfrm>
            <a:off x="4117100" y="1292056"/>
            <a:ext cx="12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api/posts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153" name="Google Shape;153;p19"/>
          <p:cNvCxnSpPr/>
          <p:nvPr/>
        </p:nvCxnSpPr>
        <p:spPr>
          <a:xfrm rot="10800000">
            <a:off x="4212875" y="4444367"/>
            <a:ext cx="555900" cy="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9"/>
          <p:cNvSpPr txBox="1"/>
          <p:nvPr/>
        </p:nvSpPr>
        <p:spPr>
          <a:xfrm>
            <a:off x="4254888" y="3961000"/>
            <a:ext cx="7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json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6231050" y="2139583"/>
            <a:ext cx="135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flipH="1">
            <a:off x="6212025" y="2608722"/>
            <a:ext cx="1292100" cy="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저장속도 - 컴퓨터에 저장되는</a:t>
            </a:r>
            <a:endParaRPr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캐시메모리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메모리 ( 64GB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SSD ( 128 GB ) -&gt; 메모리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HDD ( 1TB ). -&gt;  원반이 물리적으로 빙글빙글 돌면서 데이터를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Tape ( 백업 ) -&gt; 카세트 테잎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인증(JWT)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localhost:3000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127600" y="1482417"/>
            <a:ext cx="1663500" cy="276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프론트앤드서버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(reactjs 파일만 서빙)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6691675" y="1482417"/>
            <a:ext cx="16635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백앤드서버(nodejs expressjs)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4252100" y="1604500"/>
            <a:ext cx="14145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포트를 </a:t>
            </a:r>
            <a:r>
              <a:rPr lang="en"/>
              <a:t>3000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848300" y="1604500"/>
            <a:ext cx="14145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포트를 3001</a:t>
            </a:r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 flipH="1" rot="10800000">
            <a:off x="2546150" y="2360161"/>
            <a:ext cx="1529100" cy="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1"/>
          <p:cNvCxnSpPr/>
          <p:nvPr/>
        </p:nvCxnSpPr>
        <p:spPr>
          <a:xfrm rot="10800000">
            <a:off x="2520600" y="3021000"/>
            <a:ext cx="161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1"/>
          <p:cNvSpPr txBox="1"/>
          <p:nvPr/>
        </p:nvSpPr>
        <p:spPr>
          <a:xfrm>
            <a:off x="2795650" y="3062333"/>
            <a:ext cx="120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화면만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js/html/css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92600" y="3177361"/>
            <a:ext cx="1989600" cy="1584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 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748500" y="4193833"/>
            <a:ext cx="1362600" cy="4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게시글삭제</a:t>
            </a:r>
            <a:endParaRPr/>
          </a:p>
        </p:txBody>
      </p:sp>
      <p:cxnSp>
        <p:nvCxnSpPr>
          <p:cNvPr id="179" name="Google Shape;179;p21"/>
          <p:cNvCxnSpPr>
            <a:stCxn id="178" idx="3"/>
          </p:cNvCxnSpPr>
          <p:nvPr/>
        </p:nvCxnSpPr>
        <p:spPr>
          <a:xfrm>
            <a:off x="2111100" y="4407133"/>
            <a:ext cx="458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1"/>
          <p:cNvSpPr txBox="1"/>
          <p:nvPr/>
        </p:nvSpPr>
        <p:spPr>
          <a:xfrm>
            <a:off x="3797804" y="4386306"/>
            <a:ext cx="161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게시글 삭제 해줘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인증정보 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6858000" y="3888194"/>
            <a:ext cx="1404900" cy="1044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게시글삭제 로직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(인증정보확인후 정상적인 요청만 처리)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3032350" y="4918889"/>
            <a:ext cx="36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JWT (Json Web Token 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도커 </a:t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404475" y="1220806"/>
            <a:ext cx="16239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(nginx, webto, apache..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프로그램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(16GB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128 GB 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4core)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2194600" y="1220806"/>
            <a:ext cx="21108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와스(Web application Server)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(tomcat, webshpre, weblogic jeus, nodejs, python uv)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프로그램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우리가 만든 프로글램도 같이설치)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(64GB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128 GB 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 core)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912350" y="1220806"/>
            <a:ext cx="43767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(128GB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2TBHDD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64core)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124300" y="3532778"/>
            <a:ext cx="3953700" cy="419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도커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124300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(4core/8gb)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6409025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(16core/8GB)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7648975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디비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(32core/16GB)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4522800" y="696611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  <p:sp>
        <p:nvSpPr>
          <p:cNvPr id="196" name="Google Shape;196;p22"/>
          <p:cNvSpPr/>
          <p:nvPr/>
        </p:nvSpPr>
        <p:spPr>
          <a:xfrm>
            <a:off x="6108225" y="809083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  <p:sp>
        <p:nvSpPr>
          <p:cNvPr id="197" name="Google Shape;197;p22"/>
          <p:cNvSpPr/>
          <p:nvPr/>
        </p:nvSpPr>
        <p:spPr>
          <a:xfrm>
            <a:off x="7740600" y="809083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쿠버네티스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458800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12core/32GB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2380025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301250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6222475" y="3283222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482950" y="2582472"/>
            <a:ext cx="7365000" cy="530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쿠버네티스 ( 하나의 컴퓨터 처럼 과리 해줘요)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492600" y="1379000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135510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2262375" y="1392278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3169650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4076925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4939425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70920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94945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7437375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6896373" y="3994802"/>
            <a:ext cx="1682532" cy="1272348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장애발생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하둡 - NoSQL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154975" y="1630389"/>
            <a:ext cx="3369900" cy="3172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UNIX - HP/IBM - 3000</a:t>
            </a:r>
            <a:r>
              <a:rPr lang="en"/>
              <a:t>천만 5억 15억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파일시스템(HDD, SAN, NAS)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RDBMS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데이터를 모두 넣었죠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KTDS SQ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440700" y="40179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93100" y="41872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745500" y="43566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897900" y="45259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050300" y="46952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</a:t>
            </a:r>
            <a:r>
              <a:rPr lang="en"/>
              <a:t>수백만건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44397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리눅스머신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(500만원)</a:t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57820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싼 리눅스머신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(500만원)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71243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싼 리눅스머신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(500만원)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4439775" y="3269778"/>
            <a:ext cx="38874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Hadoop(</a:t>
            </a:r>
            <a:r>
              <a:rPr lang="en"/>
              <a:t>일종의 가상 파일 시스템) - SKT, KT, 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4821775" y="19377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4974175" y="21071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5126575" y="22764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5278975" y="24457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431375" y="26151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수백만건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081525" y="1210583"/>
            <a:ext cx="43182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</a:t>
            </a:r>
            <a:r>
              <a:rPr lang="en"/>
              <a:t>와 같이 전용 쿼리 엔진 (프로그램)</a:t>
            </a:r>
            <a:endParaRPr baseline="-25000"/>
          </a:p>
        </p:txBody>
      </p:sp>
      <p:sp>
        <p:nvSpPr>
          <p:cNvPr id="239" name="Google Shape;239;p24"/>
          <p:cNvSpPr/>
          <p:nvPr/>
        </p:nvSpPr>
        <p:spPr>
          <a:xfrm>
            <a:off x="4081525" y="494472"/>
            <a:ext cx="43182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BI(Bisness Intelligent) </a:t>
            </a:r>
            <a:r>
              <a:rPr lang="en"/>
              <a:t>시스템 </a:t>
            </a:r>
            <a:endParaRPr baseline="-25000"/>
          </a:p>
        </p:txBody>
      </p:sp>
      <p:sp>
        <p:nvSpPr>
          <p:cNvPr id="240" name="Google Shape;240;p24"/>
          <p:cNvSpPr/>
          <p:nvPr/>
        </p:nvSpPr>
        <p:spPr>
          <a:xfrm>
            <a:off x="8832300" y="4158306"/>
            <a:ext cx="757500" cy="109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수집기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(Fluent D)</a:t>
            </a:r>
            <a:endParaRPr/>
          </a:p>
        </p:txBody>
      </p:sp>
      <p:cxnSp>
        <p:nvCxnSpPr>
          <p:cNvPr id="241" name="Google Shape;241;p24"/>
          <p:cNvCxnSpPr>
            <a:stCxn id="240" idx="1"/>
            <a:endCxn id="232" idx="3"/>
          </p:cNvCxnSpPr>
          <p:nvPr/>
        </p:nvCxnSpPr>
        <p:spPr>
          <a:xfrm rot="10800000">
            <a:off x="8327100" y="3528156"/>
            <a:ext cx="505200" cy="117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4"/>
          <p:cNvSpPr txBox="1"/>
          <p:nvPr/>
        </p:nvSpPr>
        <p:spPr>
          <a:xfrm>
            <a:off x="6461350" y="1807028"/>
            <a:ext cx="2891700" cy="267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NoSQL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HBASE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MongoDB -  JSON(Javascripot object Notition)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(RAG VectorStore 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DynamoDB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780475" y="1798389"/>
            <a:ext cx="21111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SQL,  </a:t>
            </a:r>
            <a:r>
              <a:rPr lang="en"/>
              <a:t>스키마, 테이블, 컬럼,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몽고디비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422575" y="2300750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3176925" y="2268861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991625" y="2268861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434650" y="1589722"/>
            <a:ext cx="8035200" cy="44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몽고디비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67475" y="29581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67475" y="35500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67475" y="414194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3357975" y="300669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3357975" y="35986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3357975" y="41905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6172675" y="300669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6172675" y="35986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6172675" y="41905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433750" y="3550028"/>
            <a:ext cx="1797660" cy="1812618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장애발생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748575" y="2542222"/>
            <a:ext cx="1919700" cy="2461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비싼 머신1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4022100" y="2570694"/>
            <a:ext cx="1919700" cy="2461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비싼 머신2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1086650" y="2958111"/>
            <a:ext cx="1346400" cy="68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오라클1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4308750" y="2958111"/>
            <a:ext cx="1346400" cy="68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오라클2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730475" y="1562917"/>
            <a:ext cx="21732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 1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3985600" y="1532583"/>
            <a:ext cx="21732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 2</a:t>
            </a:r>
            <a:endParaRPr/>
          </a:p>
        </p:txBody>
      </p:sp>
      <p:cxnSp>
        <p:nvCxnSpPr>
          <p:cNvPr id="274" name="Google Shape;274;p26"/>
          <p:cNvCxnSpPr>
            <a:stCxn id="272" idx="2"/>
            <a:endCxn id="271" idx="0"/>
          </p:cNvCxnSpPr>
          <p:nvPr/>
        </p:nvCxnSpPr>
        <p:spPr>
          <a:xfrm>
            <a:off x="1817075" y="2199217"/>
            <a:ext cx="3165000" cy="75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6"/>
          <p:cNvCxnSpPr>
            <a:stCxn id="273" idx="2"/>
            <a:endCxn id="271" idx="0"/>
          </p:cNvCxnSpPr>
          <p:nvPr/>
        </p:nvCxnSpPr>
        <p:spPr>
          <a:xfrm flipH="1">
            <a:off x="4981900" y="2168883"/>
            <a:ext cx="90300" cy="7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6"/>
          <p:cNvCxnSpPr>
            <a:stCxn id="273" idx="2"/>
            <a:endCxn id="270" idx="0"/>
          </p:cNvCxnSpPr>
          <p:nvPr/>
        </p:nvCxnSpPr>
        <p:spPr>
          <a:xfrm flipH="1">
            <a:off x="1759900" y="2168883"/>
            <a:ext cx="3312300" cy="7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6"/>
          <p:cNvCxnSpPr>
            <a:stCxn id="272" idx="2"/>
            <a:endCxn id="270" idx="0"/>
          </p:cNvCxnSpPr>
          <p:nvPr/>
        </p:nvCxnSpPr>
        <p:spPr>
          <a:xfrm flipH="1">
            <a:off x="1759775" y="2199217"/>
            <a:ext cx="57300" cy="75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6"/>
          <p:cNvSpPr/>
          <p:nvPr/>
        </p:nvSpPr>
        <p:spPr>
          <a:xfrm>
            <a:off x="1964250" y="4207778"/>
            <a:ext cx="1375434" cy="1023624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26"/>
          <p:cNvSpPr/>
          <p:nvPr/>
        </p:nvSpPr>
        <p:spPr>
          <a:xfrm rot="5400000">
            <a:off x="7503250" y="2068750"/>
            <a:ext cx="224400" cy="1608900"/>
          </a:xfrm>
          <a:prstGeom prst="can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6962188" y="3197222"/>
            <a:ext cx="126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실시간연결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골든게이터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1086650" y="4847806"/>
            <a:ext cx="115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4359700" y="4693806"/>
            <a:ext cx="17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Standby -&gt; active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프로세스와 쓰레드 </a:t>
            </a:r>
            <a:endParaRPr/>
          </a:p>
        </p:txBody>
      </p:sp>
      <p:sp>
        <p:nvSpPr>
          <p:cNvPr id="288" name="Google Shape;288;p27"/>
          <p:cNvSpPr txBox="1"/>
          <p:nvPr>
            <p:ph idx="1" type="body"/>
          </p:nvPr>
        </p:nvSpPr>
        <p:spPr>
          <a:xfrm>
            <a:off x="311700" y="1280528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엑셀 프로그램 실행 시키면 엑셀프롬 -&gt; 프로세스 (process ) </a:t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410525" y="4185639"/>
            <a:ext cx="5571300" cy="72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( </a:t>
            </a:r>
            <a:r>
              <a:rPr lang="en"/>
              <a:t>크롬 브라우저 ) 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40700" y="2468444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탭1)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860850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탭2)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3281000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탭3)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4732075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동기와 비동기</a:t>
            </a:r>
            <a:endParaRPr/>
          </a:p>
        </p:txBody>
      </p: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311700" y="1280528"/>
            <a:ext cx="2266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28"/>
          <p:cNvCxnSpPr/>
          <p:nvPr/>
        </p:nvCxnSpPr>
        <p:spPr>
          <a:xfrm>
            <a:off x="2088800" y="1455583"/>
            <a:ext cx="120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28"/>
          <p:cNvSpPr txBox="1"/>
          <p:nvPr/>
        </p:nvSpPr>
        <p:spPr>
          <a:xfrm>
            <a:off x="2306125" y="1744028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순차실행 : 동기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28"/>
          <p:cNvSpPr txBox="1"/>
          <p:nvPr>
            <p:ph idx="1" type="body"/>
          </p:nvPr>
        </p:nvSpPr>
        <p:spPr>
          <a:xfrm>
            <a:off x="3755250" y="1208194"/>
            <a:ext cx="52650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 data = fetch(“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https://example.com/users</a:t>
            </a:r>
            <a:r>
              <a:rPr lang="en"/>
              <a:t>”) : 13</a:t>
            </a:r>
            <a:r>
              <a:rPr lang="en"/>
              <a:t>초 걸렸어요  -&gt; 쓰레드1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console.log(data) : 13</a:t>
            </a:r>
            <a:r>
              <a:rPr lang="en"/>
              <a:t>걸치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</a:t>
            </a:r>
            <a:r>
              <a:rPr lang="en"/>
              <a:t>다음 작업 화면에서 UI 그려주는 작업 13초 이상   -&gt;스레드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버튼을 눌러도 반응이없고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스크롤, 애니메이션 멈춤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// 페이지 동작하지 않는 것처럼  &gt; 싱글 스레드라서 발생문제  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3889525" y="263000"/>
            <a:ext cx="2373600" cy="90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(탭1)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자바스크립트 비동기 </a:t>
            </a:r>
            <a:r>
              <a:rPr lang="en"/>
              <a:t> </a:t>
            </a:r>
            <a:endParaRPr/>
          </a:p>
        </p:txBody>
      </p:sp>
      <p:sp>
        <p:nvSpPr>
          <p:cNvPr id="309" name="Google Shape;309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console.log(“1. </a:t>
            </a:r>
            <a:r>
              <a:rPr lang="en"/>
              <a:t>주문 넣음")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fetch(“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http://example.com/users).then</a:t>
            </a:r>
            <a:r>
              <a:rPr lang="en"/>
              <a:t>(function(response){ console.log(“3”}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console.log(“2 다른일 계속)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비동기 1 -&gt; 2 -&gt; 3(30초가 걸리든 13초가 걸리든)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// 동기 : 1 &gt; 3 &gt; 2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이베트 루프 </a:t>
            </a:r>
            <a:endParaRPr/>
          </a:p>
        </p:txBody>
      </p:sp>
      <p:sp>
        <p:nvSpPr>
          <p:cNvPr id="315" name="Google Shape;315;p3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호출 스택  : 지금 당장 실행 중인 코드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 API : 브라우저가 대신 처리하는 일 (타이머, 네트워크 작업)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태스크 큐  : 끝났으니까 이 함수를 실행 콜백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이벤트 루프  : 호출 스택이 비면 큐에서 콜백을 하나깨서 실행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280528"/>
            <a:ext cx="3334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동기(블로킹)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주문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제작해 -&gt; 블로킹(기다리고있는거죠)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전달해  -&gt; 무한대기</a:t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743950" y="1186861"/>
            <a:ext cx="3334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</a:t>
            </a:r>
            <a:r>
              <a:rPr lang="en"/>
              <a:t>동기(블로킹)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주문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전달해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제작해 -&gt; 블로킹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커피가 다되면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울려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전달해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sp>
        <p:nvSpPr>
          <p:cNvPr id="328" name="Google Shape;328;p32"/>
          <p:cNvSpPr txBox="1"/>
          <p:nvPr>
            <p:ph idx="1" type="body"/>
          </p:nvPr>
        </p:nvSpPr>
        <p:spPr>
          <a:xfrm>
            <a:off x="335850" y="1267111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진동벨로 생각하시면될것 같고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지금은 없지만 나중에 생길 값을 담는 상자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상자를 받는 시점에는 값이 없어요.. 그래서 Promise 는 값이 (커피) 아니다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값이 도착할 거라는 약속(진동벨)만 가지고 있고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 </a:t>
            </a:r>
            <a:r>
              <a:rPr lang="en"/>
              <a:t>커피가 나온다는 약속만 가지고 </a:t>
            </a:r>
            <a:endParaRPr/>
          </a:p>
        </p:txBody>
      </p:sp>
      <p:sp>
        <p:nvSpPr>
          <p:cNvPr id="334" name="Google Shape;334;p3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주문하고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받고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자리에 와서 다른일( 책을 본다던가..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벨이 울리면 수령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즉 커피는 뒤에서 누구간가 열심히 만들고 있었어요(그 누군가는 아까 이벤트루프, libuv)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 </a:t>
            </a:r>
            <a:r>
              <a:rPr lang="en"/>
              <a:t>에는 3가지 상태 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pending : </a:t>
            </a:r>
            <a:r>
              <a:rPr lang="en"/>
              <a:t>대기중, 진동벨을 받았지만, 아직 울리지 않음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fulfilled : 이행(성공), 벨이 울림 , 커피를 받으러감 .then(()=&gt;)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rejected : 거부, 커피를 만들다가 원두가 다 떨어져서 못만듬 환불 받음 .catch()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코드상으로 본다 </a:t>
            </a:r>
            <a:endParaRPr/>
          </a:p>
        </p:txBody>
      </p:sp>
      <p:sp>
        <p:nvSpPr>
          <p:cNvPr id="346" name="Google Shape;346;p3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 </a:t>
            </a:r>
            <a:r>
              <a:rPr lang="en"/>
              <a:t>coffee = orderCoffer(); // coffee 라는 애는 진동벨(Promise 객체)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coffee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.then(cup =&gt; console.log(“커피를 받음”))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.catch(err =&gt; console.log(“재료 떨어져서 환불 받음" ) 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async/ await </a:t>
            </a:r>
            <a:endParaRPr/>
          </a:p>
        </p:txBody>
      </p:sp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function </a:t>
            </a:r>
            <a:r>
              <a:rPr lang="en"/>
              <a:t>morning</a:t>
            </a:r>
            <a:r>
              <a:rPr lang="en"/>
              <a:t>()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// </a:t>
            </a:r>
            <a:r>
              <a:rPr lang="en"/>
              <a:t>벨이 끝날 때 까지 이 줄에서 기다린다.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const cup = await orderCoffee(); // promise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console.log(cup)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</a:t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410525" y="1448861"/>
            <a:ext cx="1756800" cy="36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</a:t>
            </a:r>
            <a:endParaRPr/>
          </a:p>
        </p:txBody>
      </p:sp>
      <p:sp>
        <p:nvSpPr>
          <p:cNvPr id="359" name="Google Shape;359;p37"/>
          <p:cNvSpPr/>
          <p:nvPr/>
        </p:nvSpPr>
        <p:spPr>
          <a:xfrm>
            <a:off x="5948650" y="1376500"/>
            <a:ext cx="1756800" cy="36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r>
              <a:rPr lang="en"/>
              <a:t> </a:t>
            </a:r>
            <a:endParaRPr/>
          </a:p>
        </p:txBody>
      </p:sp>
      <p:sp>
        <p:nvSpPr>
          <p:cNvPr id="360" name="Google Shape;360;p37"/>
          <p:cNvSpPr/>
          <p:nvPr/>
        </p:nvSpPr>
        <p:spPr>
          <a:xfrm>
            <a:off x="593850" y="1626694"/>
            <a:ext cx="13995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naver.com</a:t>
            </a:r>
            <a:endParaRPr/>
          </a:p>
        </p:txBody>
      </p:sp>
      <p:cxnSp>
        <p:nvCxnSpPr>
          <p:cNvPr id="361" name="Google Shape;361;p37"/>
          <p:cNvCxnSpPr/>
          <p:nvPr/>
        </p:nvCxnSpPr>
        <p:spPr>
          <a:xfrm flipH="1" rot="10800000">
            <a:off x="2175475" y="2129533"/>
            <a:ext cx="3727800" cy="1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37"/>
          <p:cNvSpPr txBox="1"/>
          <p:nvPr/>
        </p:nvSpPr>
        <p:spPr>
          <a:xfrm>
            <a:off x="3104450" y="1626694"/>
            <a:ext cx="24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HttpRequest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3" name="Google Shape;363;p37"/>
          <p:cNvCxnSpPr/>
          <p:nvPr/>
        </p:nvCxnSpPr>
        <p:spPr>
          <a:xfrm flipH="1">
            <a:off x="2210800" y="3704167"/>
            <a:ext cx="3704100" cy="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7"/>
          <p:cNvSpPr txBox="1"/>
          <p:nvPr/>
        </p:nvSpPr>
        <p:spPr>
          <a:xfrm>
            <a:off x="3074600" y="3749833"/>
            <a:ext cx="24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HttpResponse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</a:t>
            </a:r>
            <a:endParaRPr/>
          </a:p>
        </p:txBody>
      </p:sp>
      <p:graphicFrame>
        <p:nvGraphicFramePr>
          <p:cNvPr id="370" name="Google Shape;370;p38"/>
          <p:cNvGraphicFramePr/>
          <p:nvPr/>
        </p:nvGraphicFramePr>
        <p:xfrm>
          <a:off x="9525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1536925"/>
                <a:gridCol w="3289075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구성요소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설명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헤더정보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메타데이터를 담고 있어요(인증정보 등등)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인증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URL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 u="sng">
                          <a:solidFill>
                            <a:schemeClr val="hlink"/>
                          </a:solidFill>
                          <a:hlinkClick r:id="rId3"/>
                        </a:rPr>
                        <a:t>www.naver.com</a:t>
                      </a:r>
                      <a:r>
                        <a:rPr lang="en" sz="1556"/>
                        <a:t>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파마리터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 뒤에 서버에 전달하는 문자열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https://www.82cook.com/entiz/enti.php?bn=15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바디 정보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HTTP </a:t>
                      </a:r>
                      <a:r>
                        <a:rPr lang="en" sz="1556"/>
                        <a:t>메서드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GET, POST, PUT, FETCH, DELETE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HttpResponse</a:t>
            </a:r>
            <a:endParaRPr/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952500" y="179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1260600"/>
                <a:gridCol w="3565400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구성요소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설명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응답코드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200 (</a:t>
                      </a:r>
                      <a:r>
                        <a:rPr lang="en" sz="1556"/>
                        <a:t>성공), 404(리소스가없), 500(서버에러)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응답본문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데이터 담겨져 있는 텍스트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 본문의 데이터 형태( mime-type : application/json, text/html … 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 </a:t>
            </a:r>
            <a:r>
              <a:rPr lang="en"/>
              <a:t>는 왜 필요할까요? </a:t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464850" y="1730611"/>
            <a:ext cx="1485000" cy="31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Reactjs 만의 문법 들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자바스크립트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타입스크립트</a:t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>
            <a:off x="3333050" y="1665361"/>
            <a:ext cx="2117400" cy="32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실시간 통역사)</a:t>
            </a:r>
            <a:endParaRPr/>
          </a:p>
        </p:txBody>
      </p:sp>
      <p:sp>
        <p:nvSpPr>
          <p:cNvPr id="384" name="Google Shape;384;p40"/>
          <p:cNvSpPr/>
          <p:nvPr/>
        </p:nvSpPr>
        <p:spPr>
          <a:xfrm>
            <a:off x="6676175" y="1593000"/>
            <a:ext cx="1909200" cy="32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알아들수 있는 용어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(순수 자바스크립트)</a:t>
            </a:r>
            <a:endParaRPr/>
          </a:p>
        </p:txBody>
      </p:sp>
      <p:cxnSp>
        <p:nvCxnSpPr>
          <p:cNvPr id="385" name="Google Shape;385;p40"/>
          <p:cNvCxnSpPr/>
          <p:nvPr/>
        </p:nvCxnSpPr>
        <p:spPr>
          <a:xfrm flipH="1" rot="10800000">
            <a:off x="2068900" y="2854100"/>
            <a:ext cx="1145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40"/>
          <p:cNvCxnSpPr/>
          <p:nvPr/>
        </p:nvCxnSpPr>
        <p:spPr>
          <a:xfrm flipH="1" rot="10800000">
            <a:off x="5490763" y="2913294"/>
            <a:ext cx="1145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40"/>
          <p:cNvSpPr/>
          <p:nvPr/>
        </p:nvSpPr>
        <p:spPr>
          <a:xfrm>
            <a:off x="806075" y="4414194"/>
            <a:ext cx="2015100" cy="86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first-proejct &gt; src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개발자들이 이해하기 쉬운 언어(타입, 자바스크립트, JSX )</a:t>
            </a:r>
            <a:endParaRPr/>
          </a:p>
        </p:txBody>
      </p:sp>
      <p:sp>
        <p:nvSpPr>
          <p:cNvPr id="388" name="Google Shape;388;p40"/>
          <p:cNvSpPr/>
          <p:nvPr/>
        </p:nvSpPr>
        <p:spPr>
          <a:xfrm>
            <a:off x="4093175" y="3841361"/>
            <a:ext cx="2438700" cy="18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개발용 :  npm run dev (알아서 실시간 번역)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배포용 : npm run build (한번 빌드 하면 프로덕션에 배포용으로 한번만 빌드)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 :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 배포 </a:t>
            </a:r>
            <a:r>
              <a:rPr lang="en"/>
              <a:t>node </a:t>
            </a:r>
            <a:r>
              <a:rPr lang="en"/>
              <a:t>모듈 배포 ( 프론트 앤드) </a:t>
            </a:r>
            <a:endParaRPr/>
          </a:p>
        </p:txBody>
      </p:sp>
      <p:sp>
        <p:nvSpPr>
          <p:cNvPr id="394" name="Google Shape;394;p41"/>
          <p:cNvSpPr/>
          <p:nvPr/>
        </p:nvSpPr>
        <p:spPr>
          <a:xfrm>
            <a:off x="549375" y="1368389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(reactjs)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 밑에 정적파일(js 묶어서) 서빙 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run build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/dist </a:t>
            </a:r>
            <a:r>
              <a:rPr lang="en"/>
              <a:t>빌드된 파일이 있면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rsync, scp </a:t>
            </a:r>
            <a:endParaRPr/>
          </a:p>
        </p:txBody>
      </p:sp>
      <p:sp>
        <p:nvSpPr>
          <p:cNvPr id="395" name="Google Shape;395;p41"/>
          <p:cNvSpPr/>
          <p:nvPr/>
        </p:nvSpPr>
        <p:spPr>
          <a:xfrm>
            <a:off x="3412375" y="1323083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(nodejs, expressjs, nestjs)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pm2 </a:t>
            </a:r>
            <a:r>
              <a:rPr lang="en"/>
              <a:t>서버구동 런타임</a:t>
            </a:r>
            <a:endParaRPr/>
          </a:p>
        </p:txBody>
      </p:sp>
      <p:sp>
        <p:nvSpPr>
          <p:cNvPr id="396" name="Google Shape;396;p41"/>
          <p:cNvSpPr/>
          <p:nvPr/>
        </p:nvSpPr>
        <p:spPr>
          <a:xfrm>
            <a:off x="6058050" y="1368389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311700" y="494472"/>
            <a:ext cx="85206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todo </a:t>
            </a:r>
            <a:r>
              <a:rPr lang="en"/>
              <a:t>설명 - toggleTodo(2)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563"/>
              <a:buFont typeface="Arial"/>
              <a:buNone/>
            </a:pP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678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done: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78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311700" y="1280528"/>
            <a:ext cx="438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{id: 1, text:”</a:t>
            </a:r>
            <a:r>
              <a:rPr lang="en"/>
              <a:t>오늘저녁굶기</a:t>
            </a:r>
            <a:r>
              <a:rPr lang="en"/>
              <a:t>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{id: 2, text:”오늘달리기”,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{id: 3, text:”오늘듀오링고”,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]</a:t>
            </a:r>
            <a:endParaRPr/>
          </a:p>
        </p:txBody>
      </p:sp>
      <p:sp>
        <p:nvSpPr>
          <p:cNvPr id="403" name="Google Shape;403;p42"/>
          <p:cNvSpPr/>
          <p:nvPr/>
        </p:nvSpPr>
        <p:spPr>
          <a:xfrm>
            <a:off x="4925050" y="2316167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map(1)  : 1 === 2 ? </a:t>
            </a:r>
            <a:r>
              <a:rPr lang="en"/>
              <a:t>참일경우로직: 거짓일경우로직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4487525" y="134127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newT</a:t>
            </a:r>
            <a:r>
              <a:rPr lang="en" sz="1800">
                <a:solidFill>
                  <a:schemeClr val="dk2"/>
                </a:solidFill>
              </a:rPr>
              <a:t>todos</a:t>
            </a:r>
            <a:endParaRPr/>
          </a:p>
        </p:txBody>
      </p:sp>
      <p:sp>
        <p:nvSpPr>
          <p:cNvPr id="405" name="Google Shape;405;p42"/>
          <p:cNvSpPr/>
          <p:nvPr/>
        </p:nvSpPr>
        <p:spPr>
          <a:xfrm>
            <a:off x="4925050" y="3717028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map(2)  : 2 === 2 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r>
              <a:rPr lang="en" sz="1800">
                <a:solidFill>
                  <a:schemeClr val="dk2"/>
                </a:solidFill>
              </a:rPr>
              <a:t>id: 2, text:”오늘달리기”,done: true</a:t>
            </a:r>
            <a:r>
              <a:rPr lang="en"/>
              <a:t>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  <p:sp>
        <p:nvSpPr>
          <p:cNvPr id="406" name="Google Shape;406;p42"/>
          <p:cNvSpPr/>
          <p:nvPr/>
        </p:nvSpPr>
        <p:spPr>
          <a:xfrm>
            <a:off x="4925050" y="5027972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map(3)  : 1 === 3 ? 참일경우로직: 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Todo-</a:t>
            </a:r>
            <a:r>
              <a:rPr lang="en"/>
              <a:t>전체그림</a:t>
            </a:r>
            <a:endParaRPr/>
          </a:p>
        </p:txBody>
      </p:sp>
      <p:sp>
        <p:nvSpPr>
          <p:cNvPr id="412" name="Google Shape;412;p43"/>
          <p:cNvSpPr/>
          <p:nvPr/>
        </p:nvSpPr>
        <p:spPr>
          <a:xfrm>
            <a:off x="543325" y="1368389"/>
            <a:ext cx="2952000" cy="39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/>
          <p:nvPr/>
        </p:nvSpPr>
        <p:spPr>
          <a:xfrm>
            <a:off x="4787325" y="1650111"/>
            <a:ext cx="1219500" cy="10464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= []</a:t>
            </a:r>
            <a:endParaRPr/>
          </a:p>
        </p:txBody>
      </p:sp>
      <p:sp>
        <p:nvSpPr>
          <p:cNvPr id="414" name="Google Shape;414;p43"/>
          <p:cNvSpPr/>
          <p:nvPr/>
        </p:nvSpPr>
        <p:spPr>
          <a:xfrm>
            <a:off x="917600" y="2032444"/>
            <a:ext cx="1352400" cy="3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2426875" y="2032444"/>
            <a:ext cx="905400" cy="3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addBtn</a:t>
            </a:r>
            <a:endParaRPr/>
          </a:p>
        </p:txBody>
      </p:sp>
      <p:cxnSp>
        <p:nvCxnSpPr>
          <p:cNvPr id="416" name="Google Shape;416;p43"/>
          <p:cNvCxnSpPr>
            <a:stCxn id="414" idx="0"/>
            <a:endCxn id="413" idx="1"/>
          </p:cNvCxnSpPr>
          <p:nvPr/>
        </p:nvCxnSpPr>
        <p:spPr>
          <a:xfrm rot="-5400000">
            <a:off x="3304400" y="-60356"/>
            <a:ext cx="382200" cy="3803400"/>
          </a:xfrm>
          <a:prstGeom prst="bentConnector3">
            <a:avLst>
              <a:gd fmla="val 2035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3"/>
          <p:cNvSpPr txBox="1"/>
          <p:nvPr/>
        </p:nvSpPr>
        <p:spPr>
          <a:xfrm>
            <a:off x="3368625" y="804917"/>
            <a:ext cx="409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addBtn.addEventListener(“click”, () = &gt; {}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8" name="Google Shape;418;p43"/>
          <p:cNvSpPr/>
          <p:nvPr/>
        </p:nvSpPr>
        <p:spPr>
          <a:xfrm>
            <a:off x="959600" y="2585611"/>
            <a:ext cx="2372700" cy="15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1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2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3</a:t>
            </a:r>
            <a:endParaRPr/>
          </a:p>
        </p:txBody>
      </p:sp>
      <p:sp>
        <p:nvSpPr>
          <p:cNvPr id="419" name="Google Shape;419;p43"/>
          <p:cNvSpPr txBox="1"/>
          <p:nvPr/>
        </p:nvSpPr>
        <p:spPr>
          <a:xfrm>
            <a:off x="959600" y="4363167"/>
            <a:ext cx="193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refresh()</a:t>
            </a:r>
            <a:endParaRPr/>
          </a:p>
        </p:txBody>
      </p:sp>
      <p:cxnSp>
        <p:nvCxnSpPr>
          <p:cNvPr id="420" name="Google Shape;420;p43"/>
          <p:cNvCxnSpPr>
            <a:stCxn id="419" idx="3"/>
            <a:endCxn id="413" idx="3"/>
          </p:cNvCxnSpPr>
          <p:nvPr/>
        </p:nvCxnSpPr>
        <p:spPr>
          <a:xfrm flipH="1" rot="10800000">
            <a:off x="2897900" y="2696367"/>
            <a:ext cx="2499300" cy="18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43"/>
          <p:cNvCxnSpPr>
            <a:stCxn id="413" idx="2"/>
            <a:endCxn id="418" idx="3"/>
          </p:cNvCxnSpPr>
          <p:nvPr/>
        </p:nvCxnSpPr>
        <p:spPr>
          <a:xfrm flipH="1">
            <a:off x="3332325" y="2173311"/>
            <a:ext cx="1455000" cy="11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43"/>
          <p:cNvSpPr txBox="1"/>
          <p:nvPr/>
        </p:nvSpPr>
        <p:spPr>
          <a:xfrm>
            <a:off x="3773700" y="2769667"/>
            <a:ext cx="11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render</a:t>
            </a:r>
            <a:r>
              <a:rPr lang="en">
                <a:solidFill>
                  <a:schemeClr val="dk2"/>
                </a:solidFill>
              </a:rPr>
              <a:t>()</a:t>
            </a:r>
            <a:endParaRPr/>
          </a:p>
        </p:txBody>
      </p:sp>
      <p:sp>
        <p:nvSpPr>
          <p:cNvPr id="423" name="Google Shape;423;p43"/>
          <p:cNvSpPr txBox="1"/>
          <p:nvPr/>
        </p:nvSpPr>
        <p:spPr>
          <a:xfrm>
            <a:off x="4661800" y="3951556"/>
            <a:ext cx="17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toggleTodo</a:t>
            </a:r>
            <a:r>
              <a:rPr lang="en">
                <a:solidFill>
                  <a:schemeClr val="dk2"/>
                </a:solidFill>
              </a:rPr>
              <a:t>()</a:t>
            </a:r>
            <a:endParaRPr/>
          </a:p>
        </p:txBody>
      </p:sp>
      <p:cxnSp>
        <p:nvCxnSpPr>
          <p:cNvPr id="424" name="Google Shape;424;p43"/>
          <p:cNvCxnSpPr>
            <a:endCxn id="423" idx="1"/>
          </p:cNvCxnSpPr>
          <p:nvPr/>
        </p:nvCxnSpPr>
        <p:spPr>
          <a:xfrm>
            <a:off x="2629300" y="3098356"/>
            <a:ext cx="20325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43"/>
          <p:cNvCxnSpPr>
            <a:stCxn id="423" idx="0"/>
            <a:endCxn id="413" idx="3"/>
          </p:cNvCxnSpPr>
          <p:nvPr/>
        </p:nvCxnSpPr>
        <p:spPr>
          <a:xfrm rot="10800000">
            <a:off x="5397100" y="2696656"/>
            <a:ext cx="138900" cy="12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43"/>
          <p:cNvSpPr/>
          <p:nvPr/>
        </p:nvSpPr>
        <p:spPr>
          <a:xfrm>
            <a:off x="6533700" y="1457194"/>
            <a:ext cx="2499300" cy="30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render </a:t>
            </a:r>
            <a:r>
              <a:rPr lang="en"/>
              <a:t>함수는 todos를 UI 그려주는 역할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addBtn todos (input 텍스트를 ) 신규 todo 배열넣고  -&gt; render 화면을 다시그렸죠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듀링고1을 클릭하면 toggleTodo (todo 배열을 모두 돌아서 </a:t>
            </a:r>
            <a:r>
              <a:rPr lang="en" u="sng">
                <a:solidFill>
                  <a:schemeClr val="hlink"/>
                </a:solidFill>
                <a:hlinkClick r:id="rId3"/>
              </a:rPr>
              <a:t>todo.id</a:t>
            </a:r>
            <a:r>
              <a:rPr lang="en"/>
              <a:t> 해당되는 id의 done -&gt; !done ) -&gt; 배열을 다시 만듬 -&gt; render 함수 이용해서 다시 그림을 그림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Seqeunce diagram</a:t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422600" y="1375083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</a:t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2078200" y="1375083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</a:t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3733800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addTodo</a:t>
            </a:r>
            <a:endParaRPr/>
          </a:p>
        </p:txBody>
      </p:sp>
      <p:sp>
        <p:nvSpPr>
          <p:cNvPr id="435" name="Google Shape;435;p44"/>
          <p:cNvSpPr/>
          <p:nvPr/>
        </p:nvSpPr>
        <p:spPr>
          <a:xfrm>
            <a:off x="5316975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</a:t>
            </a:r>
            <a:r>
              <a:rPr lang="en"/>
              <a:t>배열</a:t>
            </a:r>
            <a:endParaRPr/>
          </a:p>
        </p:txBody>
      </p:sp>
      <p:sp>
        <p:nvSpPr>
          <p:cNvPr id="436" name="Google Shape;436;p44"/>
          <p:cNvSpPr/>
          <p:nvPr/>
        </p:nvSpPr>
        <p:spPr>
          <a:xfrm>
            <a:off x="7081250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</a:t>
            </a:r>
            <a:endParaRPr/>
          </a:p>
        </p:txBody>
      </p:sp>
      <p:cxnSp>
        <p:nvCxnSpPr>
          <p:cNvPr id="437" name="Google Shape;437;p44"/>
          <p:cNvCxnSpPr>
            <a:stCxn id="432" idx="2"/>
          </p:cNvCxnSpPr>
          <p:nvPr/>
        </p:nvCxnSpPr>
        <p:spPr>
          <a:xfrm>
            <a:off x="1038350" y="1831083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4"/>
          <p:cNvCxnSpPr/>
          <p:nvPr/>
        </p:nvCxnSpPr>
        <p:spPr>
          <a:xfrm>
            <a:off x="2684950" y="1831083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4"/>
          <p:cNvCxnSpPr/>
          <p:nvPr/>
        </p:nvCxnSpPr>
        <p:spPr>
          <a:xfrm>
            <a:off x="4400925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4"/>
          <p:cNvCxnSpPr/>
          <p:nvPr/>
        </p:nvCxnSpPr>
        <p:spPr>
          <a:xfrm>
            <a:off x="5923725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4"/>
          <p:cNvCxnSpPr/>
          <p:nvPr/>
        </p:nvCxnSpPr>
        <p:spPr>
          <a:xfrm>
            <a:off x="7763500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4"/>
          <p:cNvCxnSpPr/>
          <p:nvPr/>
        </p:nvCxnSpPr>
        <p:spPr>
          <a:xfrm>
            <a:off x="1032325" y="2159889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44"/>
          <p:cNvSpPr txBox="1"/>
          <p:nvPr/>
        </p:nvSpPr>
        <p:spPr>
          <a:xfrm>
            <a:off x="1147075" y="2267222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듀링고1 학습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4" name="Google Shape;444;p44"/>
          <p:cNvCxnSpPr/>
          <p:nvPr/>
        </p:nvCxnSpPr>
        <p:spPr>
          <a:xfrm>
            <a:off x="2739988" y="2463889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44"/>
          <p:cNvSpPr txBox="1"/>
          <p:nvPr/>
        </p:nvSpPr>
        <p:spPr>
          <a:xfrm>
            <a:off x="2846425" y="2463889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addBtn -&gt; addTodo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6" name="Google Shape;446;p44"/>
          <p:cNvCxnSpPr/>
          <p:nvPr/>
        </p:nvCxnSpPr>
        <p:spPr>
          <a:xfrm>
            <a:off x="4421263" y="2713722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p44"/>
          <p:cNvSpPr txBox="1"/>
          <p:nvPr/>
        </p:nvSpPr>
        <p:spPr>
          <a:xfrm>
            <a:off x="4536025" y="2761167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듀링고 1학습 생성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8" name="Google Shape;448;p44"/>
          <p:cNvCxnSpPr/>
          <p:nvPr/>
        </p:nvCxnSpPr>
        <p:spPr>
          <a:xfrm flipH="1" rot="10800000">
            <a:off x="5962375" y="3084767"/>
            <a:ext cx="17208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44"/>
          <p:cNvCxnSpPr/>
          <p:nvPr/>
        </p:nvCxnSpPr>
        <p:spPr>
          <a:xfrm rot="10800000">
            <a:off x="5917525" y="3532811"/>
            <a:ext cx="18297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" name="Google Shape;450;p44"/>
          <p:cNvSpPr txBox="1"/>
          <p:nvPr/>
        </p:nvSpPr>
        <p:spPr>
          <a:xfrm>
            <a:off x="5999875" y="3634972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getTodos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51" name="Google Shape;451;p44"/>
          <p:cNvSpPr txBox="1"/>
          <p:nvPr/>
        </p:nvSpPr>
        <p:spPr>
          <a:xfrm>
            <a:off x="3468075" y="3634972"/>
            <a:ext cx="232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todos를 이용해서 render함수에서 화면에 데이터를 추가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52" name="Google Shape;452;p44"/>
          <p:cNvCxnSpPr/>
          <p:nvPr/>
        </p:nvCxnSpPr>
        <p:spPr>
          <a:xfrm flipH="1">
            <a:off x="2725275" y="4037472"/>
            <a:ext cx="3192300" cy="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</a:t>
            </a:r>
            <a:r>
              <a:rPr lang="en"/>
              <a:t>와 render</a:t>
            </a:r>
            <a:endParaRPr/>
          </a:p>
        </p:txBody>
      </p:sp>
      <p:sp>
        <p:nvSpPr>
          <p:cNvPr id="458" name="Google Shape;458;p45"/>
          <p:cNvSpPr/>
          <p:nvPr/>
        </p:nvSpPr>
        <p:spPr>
          <a:xfrm>
            <a:off x="404475" y="1589722"/>
            <a:ext cx="724500" cy="369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</a:t>
            </a:r>
            <a:r>
              <a:rPr lang="en"/>
              <a:t>배열의 데이터가 바뀜</a:t>
            </a:r>
            <a:endParaRPr/>
          </a:p>
        </p:txBody>
      </p:sp>
      <p:sp>
        <p:nvSpPr>
          <p:cNvPr id="459" name="Google Shape;459;p45"/>
          <p:cNvSpPr/>
          <p:nvPr/>
        </p:nvSpPr>
        <p:spPr>
          <a:xfrm>
            <a:off x="1382450" y="2891028"/>
            <a:ext cx="1609200" cy="52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함수 직접 호출</a:t>
            </a:r>
            <a:endParaRPr/>
          </a:p>
        </p:txBody>
      </p:sp>
      <p:sp>
        <p:nvSpPr>
          <p:cNvPr id="460" name="Google Shape;460;p45"/>
          <p:cNvSpPr/>
          <p:nvPr/>
        </p:nvSpPr>
        <p:spPr>
          <a:xfrm>
            <a:off x="3268550" y="2056361"/>
            <a:ext cx="1759800" cy="219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getTodos()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getRemaining()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>
            <a:off x="6606000" y="1718361"/>
            <a:ext cx="2226300" cy="945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&lt;p&gt; </a:t>
            </a:r>
            <a:r>
              <a:rPr lang="en"/>
              <a:t>태그의 remaining 문구를 업데이트</a:t>
            </a:r>
            <a:endParaRPr/>
          </a:p>
        </p:txBody>
      </p:sp>
      <p:sp>
        <p:nvSpPr>
          <p:cNvPr id="462" name="Google Shape;462;p45"/>
          <p:cNvSpPr/>
          <p:nvPr/>
        </p:nvSpPr>
        <p:spPr>
          <a:xfrm>
            <a:off x="6606000" y="3303694"/>
            <a:ext cx="2226300" cy="945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&lt;ul&gt; list </a:t>
            </a:r>
            <a:r>
              <a:rPr lang="en"/>
              <a:t>에 &lt;li&gt; 태그로 할일 목록 전체 갱신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todos.forEach()</a:t>
            </a:r>
            <a:endParaRPr/>
          </a:p>
        </p:txBody>
      </p:sp>
      <p:sp>
        <p:nvSpPr>
          <p:cNvPr id="463" name="Google Shape;463;p45"/>
          <p:cNvSpPr/>
          <p:nvPr/>
        </p:nvSpPr>
        <p:spPr>
          <a:xfrm>
            <a:off x="5037675" y="2821972"/>
            <a:ext cx="17598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list.innerHTML = “”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</a:t>
            </a:r>
            <a:endParaRPr/>
          </a:p>
        </p:txBody>
      </p:sp>
      <p:sp>
        <p:nvSpPr>
          <p:cNvPr id="469" name="Google Shape;469;p46"/>
          <p:cNvSpPr/>
          <p:nvPr/>
        </p:nvSpPr>
        <p:spPr>
          <a:xfrm>
            <a:off x="422600" y="1267778"/>
            <a:ext cx="82404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6"/>
          <p:cNvSpPr/>
          <p:nvPr/>
        </p:nvSpPr>
        <p:spPr>
          <a:xfrm>
            <a:off x="1213425" y="2139778"/>
            <a:ext cx="3175500" cy="63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input element</a:t>
            </a:r>
            <a:endParaRPr/>
          </a:p>
        </p:txBody>
      </p:sp>
      <p:sp>
        <p:nvSpPr>
          <p:cNvPr id="471" name="Google Shape;471;p46"/>
          <p:cNvSpPr/>
          <p:nvPr/>
        </p:nvSpPr>
        <p:spPr>
          <a:xfrm>
            <a:off x="4541275" y="2139778"/>
            <a:ext cx="1550100" cy="63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add Button</a:t>
            </a:r>
            <a:endParaRPr/>
          </a:p>
        </p:txBody>
      </p:sp>
      <p:sp>
        <p:nvSpPr>
          <p:cNvPr id="472" name="Google Shape;472;p46"/>
          <p:cNvSpPr/>
          <p:nvPr/>
        </p:nvSpPr>
        <p:spPr>
          <a:xfrm>
            <a:off x="1213425" y="3048389"/>
            <a:ext cx="4878000" cy="173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list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듀링고1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듀링고2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6"/>
          <p:cNvSpPr/>
          <p:nvPr/>
        </p:nvSpPr>
        <p:spPr>
          <a:xfrm>
            <a:off x="1042775" y="1890778"/>
            <a:ext cx="5380200" cy="107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6"/>
          <p:cNvSpPr/>
          <p:nvPr/>
        </p:nvSpPr>
        <p:spPr>
          <a:xfrm>
            <a:off x="1042775" y="3048389"/>
            <a:ext cx="5380200" cy="186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" name="Google Shape;475;p46"/>
          <p:cNvCxnSpPr/>
          <p:nvPr/>
        </p:nvCxnSpPr>
        <p:spPr>
          <a:xfrm flipH="1" rot="10800000">
            <a:off x="6205475" y="1151594"/>
            <a:ext cx="9660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46"/>
          <p:cNvSpPr txBox="1"/>
          <p:nvPr/>
        </p:nvSpPr>
        <p:spPr>
          <a:xfrm>
            <a:off x="7218300" y="1318778"/>
            <a:ext cx="210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todoInput 컴포넌트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7" name="Google Shape;477;p46"/>
          <p:cNvSpPr txBox="1"/>
          <p:nvPr/>
        </p:nvSpPr>
        <p:spPr>
          <a:xfrm>
            <a:off x="7171475" y="3449972"/>
            <a:ext cx="21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todoInput </a:t>
            </a:r>
            <a:r>
              <a:rPr lang="en" sz="1800">
                <a:solidFill>
                  <a:schemeClr val="dk2"/>
                </a:solidFill>
              </a:rPr>
              <a:t>보여주기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컴포넌트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8" name="Google Shape;478;p46"/>
          <p:cNvCxnSpPr>
            <a:stCxn id="474" idx="3"/>
            <a:endCxn id="477" idx="1"/>
          </p:cNvCxnSpPr>
          <p:nvPr/>
        </p:nvCxnSpPr>
        <p:spPr>
          <a:xfrm flipH="1" rot="10800000">
            <a:off x="6422975" y="3819539"/>
            <a:ext cx="748500" cy="1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</a:t>
            </a:r>
            <a:r>
              <a:rPr lang="en"/>
              <a:t>페이지 구성요소</a:t>
            </a:r>
            <a:endParaRPr/>
          </a:p>
        </p:txBody>
      </p:sp>
      <p:sp>
        <p:nvSpPr>
          <p:cNvPr id="484" name="Google Shape;484;p47"/>
          <p:cNvSpPr/>
          <p:nvPr/>
        </p:nvSpPr>
        <p:spPr>
          <a:xfrm>
            <a:off x="422600" y="1267778"/>
            <a:ext cx="82404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 페이지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"/>
          <p:cNvSpPr/>
          <p:nvPr/>
        </p:nvSpPr>
        <p:spPr>
          <a:xfrm>
            <a:off x="736500" y="1509250"/>
            <a:ext cx="75342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헤더 - 컴포넌트 (재활용)</a:t>
            </a:r>
            <a:endParaRPr/>
          </a:p>
        </p:txBody>
      </p:sp>
      <p:sp>
        <p:nvSpPr>
          <p:cNvPr id="486" name="Google Shape;486;p47"/>
          <p:cNvSpPr/>
          <p:nvPr/>
        </p:nvSpPr>
        <p:spPr>
          <a:xfrm>
            <a:off x="736500" y="2188361"/>
            <a:ext cx="1774800" cy="28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메뉴 - 컴포넌트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(재활용)</a:t>
            </a:r>
            <a:endParaRPr/>
          </a:p>
        </p:txBody>
      </p:sp>
      <p:sp>
        <p:nvSpPr>
          <p:cNvPr id="487" name="Google Shape;487;p47"/>
          <p:cNvSpPr/>
          <p:nvPr/>
        </p:nvSpPr>
        <p:spPr>
          <a:xfrm>
            <a:off x="736500" y="5119667"/>
            <a:ext cx="75342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푸터 - 컴포넌트(재활용) </a:t>
            </a:r>
            <a:endParaRPr/>
          </a:p>
        </p:txBody>
      </p:sp>
      <p:sp>
        <p:nvSpPr>
          <p:cNvPr id="488" name="Google Shape;488;p47"/>
          <p:cNvSpPr/>
          <p:nvPr/>
        </p:nvSpPr>
        <p:spPr>
          <a:xfrm>
            <a:off x="2656275" y="2188361"/>
            <a:ext cx="5590200" cy="2862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본문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76" y="236417"/>
            <a:ext cx="7796199" cy="537633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8"/>
          <p:cNvSpPr/>
          <p:nvPr/>
        </p:nvSpPr>
        <p:spPr>
          <a:xfrm>
            <a:off x="851200" y="181111"/>
            <a:ext cx="7461600" cy="1032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헤더 - 컴포넌트 (재활용)</a:t>
            </a:r>
            <a:endParaRPr/>
          </a:p>
        </p:txBody>
      </p:sp>
      <p:sp>
        <p:nvSpPr>
          <p:cNvPr id="495" name="Google Shape;495;p48"/>
          <p:cNvSpPr/>
          <p:nvPr/>
        </p:nvSpPr>
        <p:spPr>
          <a:xfrm>
            <a:off x="1003600" y="597000"/>
            <a:ext cx="5957100" cy="48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8"/>
          <p:cNvSpPr/>
          <p:nvPr/>
        </p:nvSpPr>
        <p:spPr>
          <a:xfrm>
            <a:off x="841200" y="1323083"/>
            <a:ext cx="7461600" cy="3875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본문</a:t>
            </a:r>
            <a:endParaRPr/>
          </a:p>
        </p:txBody>
      </p:sp>
      <p:sp>
        <p:nvSpPr>
          <p:cNvPr id="497" name="Google Shape;497;p48"/>
          <p:cNvSpPr/>
          <p:nvPr/>
        </p:nvSpPr>
        <p:spPr>
          <a:xfrm>
            <a:off x="841200" y="5265583"/>
            <a:ext cx="7461600" cy="89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푸터 - 재활용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r>
              <a:rPr lang="en"/>
              <a:t>가 변환 </a:t>
            </a: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31170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(&lt;div&gt; .. &lt;/div&gt;)</a:t>
            </a: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719515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화면에서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내용을 볼 수 있었죠</a:t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256885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@vitejs/plugin-react</a:t>
            </a:r>
            <a:endParaRPr/>
          </a:p>
        </p:txBody>
      </p:sp>
      <p:sp>
        <p:nvSpPr>
          <p:cNvPr id="506" name="Google Shape;506;p49"/>
          <p:cNvSpPr/>
          <p:nvPr/>
        </p:nvSpPr>
        <p:spPr>
          <a:xfrm>
            <a:off x="2264675" y="2921472"/>
            <a:ext cx="64158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run dev, npm run build</a:t>
            </a:r>
            <a:endParaRPr/>
          </a:p>
        </p:txBody>
      </p:sp>
      <p:sp>
        <p:nvSpPr>
          <p:cNvPr id="507" name="Google Shape;507;p49"/>
          <p:cNvSpPr/>
          <p:nvPr/>
        </p:nvSpPr>
        <p:spPr>
          <a:xfrm>
            <a:off x="4947550" y="1746889"/>
            <a:ext cx="2124900" cy="78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일반 JS - dist/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React.createElement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일반 자바스크립트로 변환</a:t>
            </a:r>
            <a:endParaRPr/>
          </a:p>
        </p:txBody>
      </p:sp>
      <p:sp>
        <p:nvSpPr>
          <p:cNvPr id="508" name="Google Shape;508;p49"/>
          <p:cNvSpPr/>
          <p:nvPr/>
        </p:nvSpPr>
        <p:spPr>
          <a:xfrm>
            <a:off x="76775" y="1364778"/>
            <a:ext cx="2492100" cy="265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MSA(Micro Service Architecture)</a:t>
            </a:r>
            <a:endParaRPr/>
          </a:p>
        </p:txBody>
      </p:sp>
      <p:sp>
        <p:nvSpPr>
          <p:cNvPr id="514" name="Google Shape;514;p50"/>
          <p:cNvSpPr/>
          <p:nvPr/>
        </p:nvSpPr>
        <p:spPr>
          <a:xfrm>
            <a:off x="773925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1</a:t>
            </a:r>
            <a:endParaRPr/>
          </a:p>
        </p:txBody>
      </p:sp>
      <p:sp>
        <p:nvSpPr>
          <p:cNvPr id="515" name="Google Shape;515;p50"/>
          <p:cNvSpPr/>
          <p:nvPr/>
        </p:nvSpPr>
        <p:spPr>
          <a:xfrm>
            <a:off x="773925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</a:t>
            </a:r>
            <a:endParaRPr/>
          </a:p>
        </p:txBody>
      </p:sp>
      <p:sp>
        <p:nvSpPr>
          <p:cNvPr id="516" name="Google Shape;516;p50"/>
          <p:cNvSpPr/>
          <p:nvPr/>
        </p:nvSpPr>
        <p:spPr>
          <a:xfrm>
            <a:off x="3140900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0"/>
          <p:cNvSpPr/>
          <p:nvPr/>
        </p:nvSpPr>
        <p:spPr>
          <a:xfrm>
            <a:off x="3140900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0"/>
          <p:cNvSpPr/>
          <p:nvPr/>
        </p:nvSpPr>
        <p:spPr>
          <a:xfrm>
            <a:off x="3327800" y="189838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19" name="Google Shape;519;p50"/>
          <p:cNvSpPr/>
          <p:nvPr/>
        </p:nvSpPr>
        <p:spPr>
          <a:xfrm>
            <a:off x="3327800" y="227277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0" name="Google Shape;520;p50"/>
          <p:cNvSpPr/>
          <p:nvPr/>
        </p:nvSpPr>
        <p:spPr>
          <a:xfrm>
            <a:off x="3327800" y="263268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1" name="Google Shape;521;p50"/>
          <p:cNvSpPr/>
          <p:nvPr/>
        </p:nvSpPr>
        <p:spPr>
          <a:xfrm>
            <a:off x="3327800" y="3719083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3327800" y="4093472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3" name="Google Shape;523;p50"/>
          <p:cNvSpPr/>
          <p:nvPr/>
        </p:nvSpPr>
        <p:spPr>
          <a:xfrm>
            <a:off x="3327800" y="4453375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5988850" y="1565931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5988850" y="3383472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Standby</a:t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6119800" y="202052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6119800" y="2394917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>
            <a:off x="6119800" y="27548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6169075" y="37263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30" name="Google Shape;530;p50"/>
          <p:cNvSpPr/>
          <p:nvPr/>
        </p:nvSpPr>
        <p:spPr>
          <a:xfrm>
            <a:off x="6169075" y="410070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31" name="Google Shape;531;p50"/>
          <p:cNvSpPr/>
          <p:nvPr/>
        </p:nvSpPr>
        <p:spPr>
          <a:xfrm>
            <a:off x="6169075" y="446061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cxnSp>
        <p:nvCxnSpPr>
          <p:cNvPr id="532" name="Google Shape;532;p50"/>
          <p:cNvCxnSpPr>
            <a:stCxn id="514" idx="3"/>
            <a:endCxn id="516" idx="1"/>
          </p:cNvCxnSpPr>
          <p:nvPr/>
        </p:nvCxnSpPr>
        <p:spPr>
          <a:xfrm>
            <a:off x="2172825" y="224882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50"/>
          <p:cNvCxnSpPr>
            <a:stCxn id="514" idx="3"/>
            <a:endCxn id="517" idx="1"/>
          </p:cNvCxnSpPr>
          <p:nvPr/>
        </p:nvCxnSpPr>
        <p:spPr>
          <a:xfrm>
            <a:off x="2172825" y="224882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50"/>
          <p:cNvCxnSpPr>
            <a:stCxn id="515" idx="3"/>
            <a:endCxn id="517" idx="1"/>
          </p:cNvCxnSpPr>
          <p:nvPr/>
        </p:nvCxnSpPr>
        <p:spPr>
          <a:xfrm>
            <a:off x="2172825" y="410107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50"/>
          <p:cNvCxnSpPr>
            <a:stCxn id="515" idx="3"/>
            <a:endCxn id="516" idx="1"/>
          </p:cNvCxnSpPr>
          <p:nvPr/>
        </p:nvCxnSpPr>
        <p:spPr>
          <a:xfrm flipH="1" rot="10800000">
            <a:off x="2172825" y="224887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50"/>
          <p:cNvCxnSpPr>
            <a:stCxn id="516" idx="3"/>
            <a:endCxn id="524" idx="2"/>
          </p:cNvCxnSpPr>
          <p:nvPr/>
        </p:nvCxnSpPr>
        <p:spPr>
          <a:xfrm>
            <a:off x="4539800" y="2248822"/>
            <a:ext cx="1449000" cy="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50"/>
          <p:cNvCxnSpPr>
            <a:stCxn id="517" idx="3"/>
            <a:endCxn id="524" idx="2"/>
          </p:cNvCxnSpPr>
          <p:nvPr/>
        </p:nvCxnSpPr>
        <p:spPr>
          <a:xfrm flipH="1" rot="10800000">
            <a:off x="4539800" y="2283672"/>
            <a:ext cx="1449000" cy="18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0"/>
          <p:cNvSpPr/>
          <p:nvPr/>
        </p:nvSpPr>
        <p:spPr>
          <a:xfrm>
            <a:off x="4058750" y="1566389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9" name="Google Shape;539;p50"/>
          <p:cNvSpPr/>
          <p:nvPr/>
        </p:nvSpPr>
        <p:spPr>
          <a:xfrm>
            <a:off x="3896650" y="3366972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MSA - </a:t>
            </a:r>
            <a:r>
              <a:rPr lang="en"/>
              <a:t>신규 프로젝트</a:t>
            </a:r>
            <a:endParaRPr/>
          </a:p>
        </p:txBody>
      </p:sp>
      <p:sp>
        <p:nvSpPr>
          <p:cNvPr id="545" name="Google Shape;545;p51"/>
          <p:cNvSpPr/>
          <p:nvPr/>
        </p:nvSpPr>
        <p:spPr>
          <a:xfrm>
            <a:off x="407200" y="3701556"/>
            <a:ext cx="2566200" cy="1604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r>
              <a:rPr lang="en"/>
              <a:t> 서비스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6" name="Google Shape;546;p51"/>
          <p:cNvGrpSpPr/>
          <p:nvPr/>
        </p:nvGrpSpPr>
        <p:grpSpPr>
          <a:xfrm>
            <a:off x="436800" y="1213321"/>
            <a:ext cx="2718000" cy="1604317"/>
            <a:chOff x="436800" y="1092000"/>
            <a:chExt cx="2718000" cy="1443900"/>
          </a:xfrm>
        </p:grpSpPr>
        <p:sp>
          <p:nvSpPr>
            <p:cNvPr id="547" name="Google Shape;547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49" name="Google Shape;549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50" name="Google Shape;550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51" name="Google Shape;551;p51"/>
          <p:cNvSpPr/>
          <p:nvPr/>
        </p:nvSpPr>
        <p:spPr>
          <a:xfrm>
            <a:off x="5581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</a:t>
            </a:r>
            <a:endParaRPr/>
          </a:p>
        </p:txBody>
      </p:sp>
      <p:sp>
        <p:nvSpPr>
          <p:cNvPr id="552" name="Google Shape;552;p51"/>
          <p:cNvSpPr/>
          <p:nvPr/>
        </p:nvSpPr>
        <p:spPr>
          <a:xfrm>
            <a:off x="14074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22567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  <p:grpSp>
        <p:nvGrpSpPr>
          <p:cNvPr id="554" name="Google Shape;554;p51"/>
          <p:cNvGrpSpPr/>
          <p:nvPr/>
        </p:nvGrpSpPr>
        <p:grpSpPr>
          <a:xfrm>
            <a:off x="6359500" y="1436568"/>
            <a:ext cx="2566200" cy="1604317"/>
            <a:chOff x="4885250" y="1341450"/>
            <a:chExt cx="2566200" cy="1443900"/>
          </a:xfrm>
        </p:grpSpPr>
        <p:sp>
          <p:nvSpPr>
            <p:cNvPr id="555" name="Google Shape;555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</a:t>
              </a:r>
              <a:r>
                <a:rPr lang="en"/>
                <a:t>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59" name="Google Shape;559;p51"/>
          <p:cNvGrpSpPr/>
          <p:nvPr/>
        </p:nvGrpSpPr>
        <p:grpSpPr>
          <a:xfrm>
            <a:off x="625600" y="1490488"/>
            <a:ext cx="2718000" cy="1604317"/>
            <a:chOff x="436800" y="1092000"/>
            <a:chExt cx="2718000" cy="1443900"/>
          </a:xfrm>
        </p:grpSpPr>
        <p:sp>
          <p:nvSpPr>
            <p:cNvPr id="560" name="Google Shape;560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64" name="Google Shape;564;p51"/>
          <p:cNvGrpSpPr/>
          <p:nvPr/>
        </p:nvGrpSpPr>
        <p:grpSpPr>
          <a:xfrm>
            <a:off x="778000" y="1659821"/>
            <a:ext cx="2718000" cy="1604317"/>
            <a:chOff x="436800" y="1092000"/>
            <a:chExt cx="2718000" cy="1443900"/>
          </a:xfrm>
        </p:grpSpPr>
        <p:sp>
          <p:nvSpPr>
            <p:cNvPr id="565" name="Google Shape;565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69" name="Google Shape;569;p51"/>
          <p:cNvGrpSpPr/>
          <p:nvPr/>
        </p:nvGrpSpPr>
        <p:grpSpPr>
          <a:xfrm>
            <a:off x="930400" y="1829155"/>
            <a:ext cx="2718000" cy="1604317"/>
            <a:chOff x="436800" y="1092000"/>
            <a:chExt cx="2718000" cy="1443900"/>
          </a:xfrm>
        </p:grpSpPr>
        <p:sp>
          <p:nvSpPr>
            <p:cNvPr id="570" name="Google Shape;570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74" name="Google Shape;574;p51"/>
          <p:cNvSpPr/>
          <p:nvPr/>
        </p:nvSpPr>
        <p:spPr>
          <a:xfrm>
            <a:off x="2087000" y="854139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51"/>
          <p:cNvSpPr/>
          <p:nvPr/>
        </p:nvSpPr>
        <p:spPr>
          <a:xfrm>
            <a:off x="2566300" y="1355667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576" name="Google Shape;576;p51"/>
          <p:cNvGrpSpPr/>
          <p:nvPr/>
        </p:nvGrpSpPr>
        <p:grpSpPr>
          <a:xfrm>
            <a:off x="6548300" y="1572180"/>
            <a:ext cx="2566200" cy="1604317"/>
            <a:chOff x="4885250" y="1341450"/>
            <a:chExt cx="2566200" cy="1443900"/>
          </a:xfrm>
        </p:grpSpPr>
        <p:sp>
          <p:nvSpPr>
            <p:cNvPr id="577" name="Google Shape;577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81" name="Google Shape;581;p51"/>
          <p:cNvGrpSpPr/>
          <p:nvPr/>
        </p:nvGrpSpPr>
        <p:grpSpPr>
          <a:xfrm>
            <a:off x="6700700" y="1741513"/>
            <a:ext cx="2566200" cy="1604317"/>
            <a:chOff x="4885250" y="1341450"/>
            <a:chExt cx="2566200" cy="1443900"/>
          </a:xfrm>
        </p:grpSpPr>
        <p:sp>
          <p:nvSpPr>
            <p:cNvPr id="582" name="Google Shape;582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84" name="Google Shape;584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85" name="Google Shape;585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86" name="Google Shape;586;p51"/>
          <p:cNvGrpSpPr/>
          <p:nvPr/>
        </p:nvGrpSpPr>
        <p:grpSpPr>
          <a:xfrm>
            <a:off x="1082800" y="2009585"/>
            <a:ext cx="2718000" cy="1604317"/>
            <a:chOff x="436800" y="1092000"/>
            <a:chExt cx="2718000" cy="1443900"/>
          </a:xfrm>
        </p:grpSpPr>
        <p:sp>
          <p:nvSpPr>
            <p:cNvPr id="587" name="Google Shape;587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89" name="Google Shape;589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90" name="Google Shape;590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91" name="Google Shape;591;p51"/>
          <p:cNvSpPr/>
          <p:nvPr/>
        </p:nvSpPr>
        <p:spPr>
          <a:xfrm>
            <a:off x="200200" y="1051583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2" name="Google Shape;592;p51"/>
          <p:cNvSpPr/>
          <p:nvPr/>
        </p:nvSpPr>
        <p:spPr>
          <a:xfrm>
            <a:off x="727950" y="1301833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3" name="Google Shape;593;p51"/>
          <p:cNvSpPr/>
          <p:nvPr/>
        </p:nvSpPr>
        <p:spPr>
          <a:xfrm>
            <a:off x="1143600" y="1483000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4" name="Google Shape;594;p51"/>
          <p:cNvSpPr/>
          <p:nvPr/>
        </p:nvSpPr>
        <p:spPr>
          <a:xfrm>
            <a:off x="4397300" y="2939056"/>
            <a:ext cx="1192800" cy="2467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카프카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(메시지큐)</a:t>
            </a:r>
            <a:endParaRPr/>
          </a:p>
        </p:txBody>
      </p:sp>
      <p:cxnSp>
        <p:nvCxnSpPr>
          <p:cNvPr id="595" name="Google Shape;595;p51"/>
          <p:cNvCxnSpPr>
            <a:stCxn id="587" idx="3"/>
            <a:endCxn id="594" idx="2"/>
          </p:cNvCxnSpPr>
          <p:nvPr/>
        </p:nvCxnSpPr>
        <p:spPr>
          <a:xfrm>
            <a:off x="3800800" y="2811744"/>
            <a:ext cx="596400" cy="13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51"/>
          <p:cNvSpPr txBox="1"/>
          <p:nvPr/>
        </p:nvSpPr>
        <p:spPr>
          <a:xfrm>
            <a:off x="3890900" y="1828250"/>
            <a:ext cx="265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상품 토픽 회원 A 가 들어왔어 produce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7" name="Google Shape;597;p51"/>
          <p:cNvCxnSpPr>
            <a:stCxn id="594" idx="2"/>
            <a:endCxn id="545" idx="3"/>
          </p:cNvCxnSpPr>
          <p:nvPr/>
        </p:nvCxnSpPr>
        <p:spPr>
          <a:xfrm flipH="1">
            <a:off x="2973500" y="4172656"/>
            <a:ext cx="1423800" cy="3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51"/>
          <p:cNvSpPr txBox="1"/>
          <p:nvPr/>
        </p:nvSpPr>
        <p:spPr>
          <a:xfrm>
            <a:off x="2924125" y="4550361"/>
            <a:ext cx="158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상품 토픽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consume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스케일 업과 스케일아웃</a:t>
            </a:r>
            <a:endParaRPr/>
          </a:p>
        </p:txBody>
      </p:sp>
      <p:sp>
        <p:nvSpPr>
          <p:cNvPr id="604" name="Google Shape;604;p52"/>
          <p:cNvSpPr/>
          <p:nvPr/>
        </p:nvSpPr>
        <p:spPr>
          <a:xfrm>
            <a:off x="773925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1</a:t>
            </a:r>
            <a:endParaRPr/>
          </a:p>
        </p:txBody>
      </p:sp>
      <p:sp>
        <p:nvSpPr>
          <p:cNvPr id="605" name="Google Shape;605;p52"/>
          <p:cNvSpPr/>
          <p:nvPr/>
        </p:nvSpPr>
        <p:spPr>
          <a:xfrm>
            <a:off x="773925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</a:t>
            </a:r>
            <a:endParaRPr/>
          </a:p>
        </p:txBody>
      </p:sp>
      <p:sp>
        <p:nvSpPr>
          <p:cNvPr id="606" name="Google Shape;606;p52"/>
          <p:cNvSpPr/>
          <p:nvPr/>
        </p:nvSpPr>
        <p:spPr>
          <a:xfrm>
            <a:off x="3140900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2"/>
          <p:cNvSpPr/>
          <p:nvPr/>
        </p:nvSpPr>
        <p:spPr>
          <a:xfrm>
            <a:off x="3140900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2"/>
          <p:cNvSpPr/>
          <p:nvPr/>
        </p:nvSpPr>
        <p:spPr>
          <a:xfrm>
            <a:off x="3327800" y="189838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09" name="Google Shape;609;p52"/>
          <p:cNvSpPr/>
          <p:nvPr/>
        </p:nvSpPr>
        <p:spPr>
          <a:xfrm>
            <a:off x="3327800" y="227277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0" name="Google Shape;610;p52"/>
          <p:cNvSpPr/>
          <p:nvPr/>
        </p:nvSpPr>
        <p:spPr>
          <a:xfrm>
            <a:off x="3327800" y="263268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1" name="Google Shape;611;p52"/>
          <p:cNvSpPr/>
          <p:nvPr/>
        </p:nvSpPr>
        <p:spPr>
          <a:xfrm>
            <a:off x="3327800" y="3719083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12" name="Google Shape;612;p52"/>
          <p:cNvSpPr/>
          <p:nvPr/>
        </p:nvSpPr>
        <p:spPr>
          <a:xfrm>
            <a:off x="3327800" y="4093472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3" name="Google Shape;613;p52"/>
          <p:cNvSpPr/>
          <p:nvPr/>
        </p:nvSpPr>
        <p:spPr>
          <a:xfrm>
            <a:off x="3327800" y="4453375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4" name="Google Shape;614;p52"/>
          <p:cNvSpPr/>
          <p:nvPr/>
        </p:nvSpPr>
        <p:spPr>
          <a:xfrm>
            <a:off x="5988850" y="1565931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2"/>
          <p:cNvSpPr/>
          <p:nvPr/>
        </p:nvSpPr>
        <p:spPr>
          <a:xfrm>
            <a:off x="5988850" y="3383472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Standby</a:t>
            </a:r>
            <a:endParaRPr/>
          </a:p>
        </p:txBody>
      </p:sp>
      <p:sp>
        <p:nvSpPr>
          <p:cNvPr id="616" name="Google Shape;616;p52"/>
          <p:cNvSpPr/>
          <p:nvPr/>
        </p:nvSpPr>
        <p:spPr>
          <a:xfrm>
            <a:off x="6119800" y="202052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17" name="Google Shape;617;p52"/>
          <p:cNvSpPr/>
          <p:nvPr/>
        </p:nvSpPr>
        <p:spPr>
          <a:xfrm>
            <a:off x="6119800" y="2394917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8" name="Google Shape;618;p52"/>
          <p:cNvSpPr/>
          <p:nvPr/>
        </p:nvSpPr>
        <p:spPr>
          <a:xfrm>
            <a:off x="6119800" y="27548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9" name="Google Shape;619;p52"/>
          <p:cNvSpPr/>
          <p:nvPr/>
        </p:nvSpPr>
        <p:spPr>
          <a:xfrm>
            <a:off x="6169075" y="37263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20" name="Google Shape;620;p52"/>
          <p:cNvSpPr/>
          <p:nvPr/>
        </p:nvSpPr>
        <p:spPr>
          <a:xfrm>
            <a:off x="6169075" y="410070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21" name="Google Shape;621;p52"/>
          <p:cNvSpPr/>
          <p:nvPr/>
        </p:nvSpPr>
        <p:spPr>
          <a:xfrm>
            <a:off x="6169075" y="446061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cxnSp>
        <p:nvCxnSpPr>
          <p:cNvPr id="622" name="Google Shape;622;p52"/>
          <p:cNvCxnSpPr>
            <a:stCxn id="604" idx="3"/>
            <a:endCxn id="606" idx="1"/>
          </p:cNvCxnSpPr>
          <p:nvPr/>
        </p:nvCxnSpPr>
        <p:spPr>
          <a:xfrm>
            <a:off x="2172825" y="224882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52"/>
          <p:cNvCxnSpPr>
            <a:stCxn id="604" idx="3"/>
            <a:endCxn id="607" idx="1"/>
          </p:cNvCxnSpPr>
          <p:nvPr/>
        </p:nvCxnSpPr>
        <p:spPr>
          <a:xfrm>
            <a:off x="2172825" y="224882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52"/>
          <p:cNvCxnSpPr>
            <a:stCxn id="605" idx="3"/>
            <a:endCxn id="607" idx="1"/>
          </p:cNvCxnSpPr>
          <p:nvPr/>
        </p:nvCxnSpPr>
        <p:spPr>
          <a:xfrm>
            <a:off x="2172825" y="410107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52"/>
          <p:cNvCxnSpPr>
            <a:stCxn id="605" idx="3"/>
            <a:endCxn id="606" idx="1"/>
          </p:cNvCxnSpPr>
          <p:nvPr/>
        </p:nvCxnSpPr>
        <p:spPr>
          <a:xfrm flipH="1" rot="10800000">
            <a:off x="2172825" y="224887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52"/>
          <p:cNvCxnSpPr>
            <a:stCxn id="606" idx="3"/>
            <a:endCxn id="614" idx="2"/>
          </p:cNvCxnSpPr>
          <p:nvPr/>
        </p:nvCxnSpPr>
        <p:spPr>
          <a:xfrm>
            <a:off x="4539800" y="2248822"/>
            <a:ext cx="1449000" cy="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52"/>
          <p:cNvCxnSpPr>
            <a:stCxn id="607" idx="3"/>
            <a:endCxn id="614" idx="2"/>
          </p:cNvCxnSpPr>
          <p:nvPr/>
        </p:nvCxnSpPr>
        <p:spPr>
          <a:xfrm flipH="1" rot="10800000">
            <a:off x="4539800" y="2283672"/>
            <a:ext cx="1449000" cy="18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52"/>
          <p:cNvSpPr/>
          <p:nvPr/>
        </p:nvSpPr>
        <p:spPr>
          <a:xfrm>
            <a:off x="2839300" y="1085306"/>
            <a:ext cx="2299500" cy="55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cpu: 4G, mem: 8G</a:t>
            </a:r>
            <a:endParaRPr/>
          </a:p>
        </p:txBody>
      </p:sp>
      <p:sp>
        <p:nvSpPr>
          <p:cNvPr id="629" name="Google Shape;629;p52"/>
          <p:cNvSpPr/>
          <p:nvPr/>
        </p:nvSpPr>
        <p:spPr>
          <a:xfrm>
            <a:off x="4375700" y="440778"/>
            <a:ext cx="2299500" cy="55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cpu: 8G, mem: 16G</a:t>
            </a:r>
            <a:endParaRPr/>
          </a:p>
        </p:txBody>
      </p:sp>
      <p:cxnSp>
        <p:nvCxnSpPr>
          <p:cNvPr id="630" name="Google Shape;630;p52"/>
          <p:cNvCxnSpPr>
            <a:stCxn id="628" idx="0"/>
            <a:endCxn id="629" idx="1"/>
          </p:cNvCxnSpPr>
          <p:nvPr/>
        </p:nvCxnSpPr>
        <p:spPr>
          <a:xfrm flipH="1" rot="10800000">
            <a:off x="3989050" y="717206"/>
            <a:ext cx="386700" cy="3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r>
              <a:rPr lang="en"/>
              <a:t>기본 규칙</a:t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11700" y="1280528"/>
            <a:ext cx="3616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&lt;p&gt;  </a:t>
            </a:r>
            <a:r>
              <a:rPr lang="en"/>
              <a:t>안녕, {name} 님 &lt;/p&gt;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&lt;p&gt; : JSX </a:t>
            </a:r>
            <a:r>
              <a:rPr lang="en"/>
              <a:t>태그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 : JS 변수( 값이 치환)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&lt;/p&gt; : 반드시 태그는 닫앙야함</a:t>
            </a:r>
            <a:endParaRPr/>
          </a:p>
        </p:txBody>
      </p:sp>
      <p:sp>
        <p:nvSpPr>
          <p:cNvPr id="637" name="Google Shape;637;p53"/>
          <p:cNvSpPr txBox="1"/>
          <p:nvPr>
            <p:ph idx="1" type="body"/>
          </p:nvPr>
        </p:nvSpPr>
        <p:spPr>
          <a:xfrm>
            <a:off x="4337425" y="1222389"/>
            <a:ext cx="41763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class=”app”   -&gt; className=”app”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name=”myName”     name={myName}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return (&lt;div&gt;&lt;/div&gt;&lt;p&gt;&lt;/p&gt;) -&gt; return (&lt;&gt;&lt;/&gt;) - </a:t>
            </a:r>
            <a:r>
              <a:rPr lang="en"/>
              <a:t>하나의 엘리먼트로만 리턴 해야함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 txBox="1"/>
          <p:nvPr>
            <p:ph type="title"/>
          </p:nvPr>
        </p:nvSpPr>
        <p:spPr>
          <a:xfrm>
            <a:off x="266925" y="-45750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박스 모델</a:t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2855500" y="2696528"/>
            <a:ext cx="3090900" cy="751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내용 ( content) &lt;h1&gt;&lt;/h1&gt;</a:t>
            </a:r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170050" y="1725556"/>
            <a:ext cx="4803900" cy="2553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테두리 (border)</a:t>
            </a:r>
            <a:endParaRPr/>
          </a:p>
        </p:txBody>
      </p:sp>
      <p:cxnSp>
        <p:nvCxnSpPr>
          <p:cNvPr id="645" name="Google Shape;645;p54"/>
          <p:cNvCxnSpPr>
            <a:stCxn id="644" idx="0"/>
          </p:cNvCxnSpPr>
          <p:nvPr/>
        </p:nvCxnSpPr>
        <p:spPr>
          <a:xfrm flipH="1">
            <a:off x="4569900" y="1725556"/>
            <a:ext cx="2100" cy="9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6" name="Google Shape;646;p54"/>
          <p:cNvCxnSpPr>
            <a:stCxn id="644" idx="3"/>
          </p:cNvCxnSpPr>
          <p:nvPr/>
        </p:nvCxnSpPr>
        <p:spPr>
          <a:xfrm flipH="1">
            <a:off x="5940450" y="3002506"/>
            <a:ext cx="10335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7" name="Google Shape;647;p54"/>
          <p:cNvCxnSpPr>
            <a:stCxn id="644" idx="2"/>
          </p:cNvCxnSpPr>
          <p:nvPr/>
        </p:nvCxnSpPr>
        <p:spPr>
          <a:xfrm flipH="1" rot="10800000">
            <a:off x="4572000" y="3447856"/>
            <a:ext cx="162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8" name="Google Shape;648;p54"/>
          <p:cNvCxnSpPr>
            <a:endCxn id="644" idx="1"/>
          </p:cNvCxnSpPr>
          <p:nvPr/>
        </p:nvCxnSpPr>
        <p:spPr>
          <a:xfrm rot="10800000">
            <a:off x="2170050" y="3002506"/>
            <a:ext cx="709500" cy="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9" name="Google Shape;649;p54"/>
          <p:cNvSpPr txBox="1"/>
          <p:nvPr/>
        </p:nvSpPr>
        <p:spPr>
          <a:xfrm>
            <a:off x="2120450" y="2318556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left padding</a:t>
            </a:r>
            <a:endParaRPr/>
          </a:p>
        </p:txBody>
      </p:sp>
      <p:sp>
        <p:nvSpPr>
          <p:cNvPr id="650" name="Google Shape;650;p54"/>
          <p:cNvSpPr txBox="1"/>
          <p:nvPr/>
        </p:nvSpPr>
        <p:spPr>
          <a:xfrm>
            <a:off x="4657450" y="1838889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sp>
        <p:nvSpPr>
          <p:cNvPr id="651" name="Google Shape;651;p54"/>
          <p:cNvSpPr txBox="1"/>
          <p:nvPr/>
        </p:nvSpPr>
        <p:spPr>
          <a:xfrm>
            <a:off x="4657450" y="3550694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bottom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sp>
        <p:nvSpPr>
          <p:cNvPr id="652" name="Google Shape;652;p54"/>
          <p:cNvSpPr txBox="1"/>
          <p:nvPr/>
        </p:nvSpPr>
        <p:spPr>
          <a:xfrm>
            <a:off x="6012575" y="3052028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cxnSp>
        <p:nvCxnSpPr>
          <p:cNvPr id="653" name="Google Shape;653;p54"/>
          <p:cNvCxnSpPr/>
          <p:nvPr/>
        </p:nvCxnSpPr>
        <p:spPr>
          <a:xfrm flipH="1">
            <a:off x="4569900" y="750444"/>
            <a:ext cx="2100" cy="9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4" name="Google Shape;654;p54"/>
          <p:cNvCxnSpPr/>
          <p:nvPr/>
        </p:nvCxnSpPr>
        <p:spPr>
          <a:xfrm rot="10800000">
            <a:off x="1279750" y="2978022"/>
            <a:ext cx="709500" cy="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5" name="Google Shape;655;p54"/>
          <p:cNvCxnSpPr/>
          <p:nvPr/>
        </p:nvCxnSpPr>
        <p:spPr>
          <a:xfrm flipH="1" rot="10800000">
            <a:off x="4562850" y="4279622"/>
            <a:ext cx="162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6" name="Google Shape;656;p54"/>
          <p:cNvCxnSpPr/>
          <p:nvPr/>
        </p:nvCxnSpPr>
        <p:spPr>
          <a:xfrm flipH="1">
            <a:off x="7333950" y="2991222"/>
            <a:ext cx="10335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7" name="Google Shape;657;p54"/>
          <p:cNvSpPr/>
          <p:nvPr/>
        </p:nvSpPr>
        <p:spPr>
          <a:xfrm>
            <a:off x="1241100" y="750444"/>
            <a:ext cx="7254600" cy="441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테두리 (border)</a:t>
            </a:r>
            <a:endParaRPr/>
          </a:p>
        </p:txBody>
      </p:sp>
      <p:sp>
        <p:nvSpPr>
          <p:cNvPr id="658" name="Google Shape;658;p54"/>
          <p:cNvSpPr txBox="1"/>
          <p:nvPr/>
        </p:nvSpPr>
        <p:spPr>
          <a:xfrm>
            <a:off x="1279750" y="750444"/>
            <a:ext cx="36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부모요소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9" name="Google Shape;659;p54"/>
          <p:cNvSpPr txBox="1"/>
          <p:nvPr/>
        </p:nvSpPr>
        <p:spPr>
          <a:xfrm>
            <a:off x="710100" y="2395472"/>
            <a:ext cx="13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left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4657450" y="901569"/>
            <a:ext cx="13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1" name="Google Shape;661;p54"/>
          <p:cNvSpPr txBox="1"/>
          <p:nvPr/>
        </p:nvSpPr>
        <p:spPr>
          <a:xfrm>
            <a:off x="7071300" y="2286403"/>
            <a:ext cx="13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right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2" name="Google Shape;662;p54"/>
          <p:cNvSpPr txBox="1"/>
          <p:nvPr/>
        </p:nvSpPr>
        <p:spPr>
          <a:xfrm>
            <a:off x="4767100" y="4337514"/>
            <a:ext cx="13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</a:t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599475" y="1673333"/>
            <a:ext cx="1901700" cy="29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&lt;Greeting name={myName}/&gt;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&lt;GoobBye/&gt;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&lt;ProfileCard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/&gt;</a:t>
            </a:r>
            <a:endParaRPr/>
          </a:p>
        </p:txBody>
      </p:sp>
      <p:sp>
        <p:nvSpPr>
          <p:cNvPr id="669" name="Google Shape;669;p55"/>
          <p:cNvSpPr/>
          <p:nvPr/>
        </p:nvSpPr>
        <p:spPr>
          <a:xfrm>
            <a:off x="3708175" y="1737306"/>
            <a:ext cx="1901700" cy="7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Greeting.jsx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Greeting</a:t>
            </a:r>
            <a:endParaRPr/>
          </a:p>
        </p:txBody>
      </p:sp>
      <p:cxnSp>
        <p:nvCxnSpPr>
          <p:cNvPr id="670" name="Google Shape;670;p55"/>
          <p:cNvCxnSpPr>
            <a:stCxn id="669" idx="1"/>
          </p:cNvCxnSpPr>
          <p:nvPr/>
        </p:nvCxnSpPr>
        <p:spPr>
          <a:xfrm flipH="1">
            <a:off x="2271175" y="2133906"/>
            <a:ext cx="1437000" cy="6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55"/>
          <p:cNvSpPr/>
          <p:nvPr/>
        </p:nvSpPr>
        <p:spPr>
          <a:xfrm>
            <a:off x="3708175" y="2730778"/>
            <a:ext cx="1901700" cy="6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GoodBye.jsx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GooBye</a:t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708175" y="3646444"/>
            <a:ext cx="1901700" cy="103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ProfileCard.jsx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&lt;SkillBadge/&gt;</a:t>
            </a:r>
            <a:endParaRPr/>
          </a:p>
        </p:txBody>
      </p:sp>
      <p:cxnSp>
        <p:nvCxnSpPr>
          <p:cNvPr id="673" name="Google Shape;673;p55"/>
          <p:cNvCxnSpPr>
            <a:stCxn id="672" idx="1"/>
          </p:cNvCxnSpPr>
          <p:nvPr/>
        </p:nvCxnSpPr>
        <p:spPr>
          <a:xfrm rot="10800000">
            <a:off x="2066275" y="4098544"/>
            <a:ext cx="1641900" cy="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55"/>
          <p:cNvSpPr/>
          <p:nvPr/>
        </p:nvSpPr>
        <p:spPr>
          <a:xfrm>
            <a:off x="6413150" y="3062306"/>
            <a:ext cx="1901700" cy="6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SkillBadge.jsx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SkillBadge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5" name="Google Shape;675;p55"/>
          <p:cNvCxnSpPr>
            <a:stCxn id="674" idx="1"/>
          </p:cNvCxnSpPr>
          <p:nvPr/>
        </p:nvCxnSpPr>
        <p:spPr>
          <a:xfrm flipH="1">
            <a:off x="5194550" y="3395756"/>
            <a:ext cx="1218600" cy="10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"/>
          <p:cNvSpPr txBox="1"/>
          <p:nvPr>
            <p:ph type="title"/>
          </p:nvPr>
        </p:nvSpPr>
        <p:spPr>
          <a:xfrm>
            <a:off x="266900" y="487361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TodoApp</a:t>
            </a:r>
            <a:endParaRPr/>
          </a:p>
        </p:txBody>
      </p:sp>
      <p:sp>
        <p:nvSpPr>
          <p:cNvPr id="681" name="Google Shape;681;p56"/>
          <p:cNvSpPr/>
          <p:nvPr/>
        </p:nvSpPr>
        <p:spPr>
          <a:xfrm>
            <a:off x="44070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&lt;TodoApp/&gt;</a:t>
            </a:r>
            <a:endParaRPr/>
          </a:p>
        </p:txBody>
      </p:sp>
      <p:sp>
        <p:nvSpPr>
          <p:cNvPr id="682" name="Google Shape;682;p56"/>
          <p:cNvSpPr/>
          <p:nvPr/>
        </p:nvSpPr>
        <p:spPr>
          <a:xfrm>
            <a:off x="2772425" y="1334833"/>
            <a:ext cx="24606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todos.map(() =&gt; (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&lt;TodoItem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todos={todos}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onToggle={handleToggle}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ondDelete={handleDelete}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/&gt;</a:t>
            </a:r>
            <a:endParaRPr/>
          </a:p>
        </p:txBody>
      </p:sp>
      <p:sp>
        <p:nvSpPr>
          <p:cNvPr id="683" name="Google Shape;683;p56"/>
          <p:cNvSpPr/>
          <p:nvPr/>
        </p:nvSpPr>
        <p:spPr>
          <a:xfrm>
            <a:off x="606285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 ({todos, onToggle, onDelete } {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br>
              <a:rPr lang="en"/>
            </a:br>
            <a:r>
              <a:rPr lang="en"/>
              <a:t>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cxnSp>
        <p:nvCxnSpPr>
          <p:cNvPr id="684" name="Google Shape;684;p56"/>
          <p:cNvCxnSpPr>
            <a:stCxn id="682" idx="1"/>
            <a:endCxn id="681" idx="3"/>
          </p:cNvCxnSpPr>
          <p:nvPr/>
        </p:nvCxnSpPr>
        <p:spPr>
          <a:xfrm rot="10800000">
            <a:off x="2119025" y="3269983"/>
            <a:ext cx="65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56"/>
          <p:cNvCxnSpPr>
            <a:stCxn id="683" idx="1"/>
            <a:endCxn id="682" idx="3"/>
          </p:cNvCxnSpPr>
          <p:nvPr/>
        </p:nvCxnSpPr>
        <p:spPr>
          <a:xfrm rot="10800000">
            <a:off x="5233050" y="3269983"/>
            <a:ext cx="82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56"/>
          <p:cNvSpPr/>
          <p:nvPr/>
        </p:nvSpPr>
        <p:spPr>
          <a:xfrm>
            <a:off x="1273075" y="1400306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할아버지/할머니</a:t>
            </a:r>
            <a:endParaRPr/>
          </a:p>
        </p:txBody>
      </p:sp>
      <p:sp>
        <p:nvSpPr>
          <p:cNvPr id="687" name="Google Shape;687;p56"/>
          <p:cNvSpPr/>
          <p:nvPr/>
        </p:nvSpPr>
        <p:spPr>
          <a:xfrm>
            <a:off x="4285100" y="1400306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아빠엄마</a:t>
            </a:r>
            <a:endParaRPr/>
          </a:p>
        </p:txBody>
      </p:sp>
      <p:sp>
        <p:nvSpPr>
          <p:cNvPr id="688" name="Google Shape;688;p56"/>
          <p:cNvSpPr/>
          <p:nvPr/>
        </p:nvSpPr>
        <p:spPr>
          <a:xfrm>
            <a:off x="7037025" y="1444694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아들딸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PostApp</a:t>
            </a:r>
            <a:endParaRPr/>
          </a:p>
        </p:txBody>
      </p:sp>
      <p:sp>
        <p:nvSpPr>
          <p:cNvPr id="694" name="Google Shape;694;p57"/>
          <p:cNvSpPr/>
          <p:nvPr/>
        </p:nvSpPr>
        <p:spPr>
          <a:xfrm>
            <a:off x="44070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&lt;PostApp/&gt;</a:t>
            </a:r>
            <a:endParaRPr/>
          </a:p>
        </p:txBody>
      </p:sp>
      <p:sp>
        <p:nvSpPr>
          <p:cNvPr id="695" name="Google Shape;695;p57"/>
          <p:cNvSpPr/>
          <p:nvPr/>
        </p:nvSpPr>
        <p:spPr>
          <a:xfrm>
            <a:off x="2772425" y="1334833"/>
            <a:ext cx="24606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todos.map(() =&gt; (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&lt;TodoItem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todos={todos}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onToggle={handleToggle}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ondDelete={handleDelete}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/&gt;</a:t>
            </a:r>
            <a:endParaRPr/>
          </a:p>
        </p:txBody>
      </p:sp>
      <p:sp>
        <p:nvSpPr>
          <p:cNvPr id="696" name="Google Shape;696;p57"/>
          <p:cNvSpPr/>
          <p:nvPr/>
        </p:nvSpPr>
        <p:spPr>
          <a:xfrm>
            <a:off x="606285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PostItem.jsx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 ({todos, onToggle, onDelete } {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br>
              <a:rPr lang="en"/>
            </a:br>
            <a:r>
              <a:rPr lang="en"/>
              <a:t>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sp>
        <p:nvSpPr>
          <p:cNvPr id="697" name="Google Shape;697;p57"/>
          <p:cNvSpPr/>
          <p:nvPr/>
        </p:nvSpPr>
        <p:spPr>
          <a:xfrm>
            <a:off x="1600725" y="1242083"/>
            <a:ext cx="5668800" cy="90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useState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공유되는 state</a:t>
            </a:r>
            <a:endParaRPr/>
          </a:p>
        </p:txBody>
      </p:sp>
      <p:sp>
        <p:nvSpPr>
          <p:cNvPr id="703" name="Google Shape;703;p58"/>
          <p:cNvSpPr/>
          <p:nvPr/>
        </p:nvSpPr>
        <p:spPr>
          <a:xfrm>
            <a:off x="1823150" y="1334861"/>
            <a:ext cx="49200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 ← </a:t>
            </a:r>
            <a:r>
              <a:rPr lang="en"/>
              <a:t>장바구니 (cart)</a:t>
            </a:r>
            <a:endParaRPr/>
          </a:p>
        </p:txBody>
      </p:sp>
      <p:sp>
        <p:nvSpPr>
          <p:cNvPr id="704" name="Google Shape;704;p58"/>
          <p:cNvSpPr/>
          <p:nvPr/>
        </p:nvSpPr>
        <p:spPr>
          <a:xfrm>
            <a:off x="635325" y="2678056"/>
            <a:ext cx="2902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ProductList.jsx</a:t>
            </a:r>
            <a:endParaRPr/>
          </a:p>
        </p:txBody>
      </p:sp>
      <p:sp>
        <p:nvSpPr>
          <p:cNvPr id="705" name="Google Shape;705;p58"/>
          <p:cNvSpPr/>
          <p:nvPr/>
        </p:nvSpPr>
        <p:spPr>
          <a:xfrm>
            <a:off x="4965300" y="2678056"/>
            <a:ext cx="2902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CartSummary.jsx</a:t>
            </a:r>
            <a:endParaRPr/>
          </a:p>
        </p:txBody>
      </p:sp>
      <p:cxnSp>
        <p:nvCxnSpPr>
          <p:cNvPr id="706" name="Google Shape;706;p58"/>
          <p:cNvCxnSpPr>
            <a:stCxn id="703" idx="2"/>
            <a:endCxn id="704" idx="0"/>
          </p:cNvCxnSpPr>
          <p:nvPr/>
        </p:nvCxnSpPr>
        <p:spPr>
          <a:xfrm flipH="1">
            <a:off x="2086550" y="1925261"/>
            <a:ext cx="219660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58"/>
          <p:cNvCxnSpPr>
            <a:stCxn id="703" idx="2"/>
            <a:endCxn id="705" idx="0"/>
          </p:cNvCxnSpPr>
          <p:nvPr/>
        </p:nvCxnSpPr>
        <p:spPr>
          <a:xfrm>
            <a:off x="4283150" y="1925261"/>
            <a:ext cx="213330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58"/>
          <p:cNvSpPr/>
          <p:nvPr/>
        </p:nvSpPr>
        <p:spPr>
          <a:xfrm>
            <a:off x="2559950" y="2093625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</a:t>
            </a:r>
            <a:endParaRPr/>
          </a:p>
        </p:txBody>
      </p:sp>
      <p:sp>
        <p:nvSpPr>
          <p:cNvPr id="709" name="Google Shape;709;p58"/>
          <p:cNvSpPr/>
          <p:nvPr/>
        </p:nvSpPr>
        <p:spPr>
          <a:xfrm>
            <a:off x="4724900" y="2093611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</a:t>
            </a:r>
            <a:endParaRPr/>
          </a:p>
        </p:txBody>
      </p:sp>
      <p:sp>
        <p:nvSpPr>
          <p:cNvPr id="710" name="Google Shape;710;p58"/>
          <p:cNvSpPr txBox="1"/>
          <p:nvPr/>
        </p:nvSpPr>
        <p:spPr>
          <a:xfrm>
            <a:off x="1036375" y="3742917"/>
            <a:ext cx="710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ProductList, CartSummary를 형제라고 한다면 형제는 부모를 통해서만 연결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useContext</a:t>
            </a:r>
            <a:endParaRPr/>
          </a:p>
        </p:txBody>
      </p:sp>
      <p:sp>
        <p:nvSpPr>
          <p:cNvPr id="716" name="Google Shape;716;p59"/>
          <p:cNvSpPr/>
          <p:nvPr/>
        </p:nvSpPr>
        <p:spPr>
          <a:xfrm>
            <a:off x="1823150" y="1334861"/>
            <a:ext cx="49200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</p:txBody>
      </p:sp>
      <p:sp>
        <p:nvSpPr>
          <p:cNvPr id="717" name="Google Shape;717;p59"/>
          <p:cNvSpPr/>
          <p:nvPr/>
        </p:nvSpPr>
        <p:spPr>
          <a:xfrm>
            <a:off x="1474475" y="2267167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ProductList.jsx</a:t>
            </a:r>
            <a:endParaRPr/>
          </a:p>
        </p:txBody>
      </p:sp>
      <p:sp>
        <p:nvSpPr>
          <p:cNvPr id="718" name="Google Shape;718;p59"/>
          <p:cNvSpPr/>
          <p:nvPr/>
        </p:nvSpPr>
        <p:spPr>
          <a:xfrm>
            <a:off x="1246550" y="3147528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ProductItem.jsx</a:t>
            </a:r>
            <a:endParaRPr/>
          </a:p>
        </p:txBody>
      </p:sp>
      <p:sp>
        <p:nvSpPr>
          <p:cNvPr id="719" name="Google Shape;719;p59"/>
          <p:cNvSpPr/>
          <p:nvPr/>
        </p:nvSpPr>
        <p:spPr>
          <a:xfrm>
            <a:off x="801300" y="3993861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Cart.jsx</a:t>
            </a:r>
            <a:endParaRPr/>
          </a:p>
        </p:txBody>
      </p:sp>
      <p:cxnSp>
        <p:nvCxnSpPr>
          <p:cNvPr id="720" name="Google Shape;720;p59"/>
          <p:cNvCxnSpPr>
            <a:stCxn id="719" idx="0"/>
            <a:endCxn id="718" idx="2"/>
          </p:cNvCxnSpPr>
          <p:nvPr/>
        </p:nvCxnSpPr>
        <p:spPr>
          <a:xfrm flipH="1" rot="10800000">
            <a:off x="2029050" y="3737961"/>
            <a:ext cx="4452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59"/>
          <p:cNvCxnSpPr>
            <a:stCxn id="718" idx="0"/>
            <a:endCxn id="717" idx="2"/>
          </p:cNvCxnSpPr>
          <p:nvPr/>
        </p:nvCxnSpPr>
        <p:spPr>
          <a:xfrm flipH="1" rot="10800000">
            <a:off x="2474300" y="2857428"/>
            <a:ext cx="2280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59"/>
          <p:cNvCxnSpPr>
            <a:stCxn id="717" idx="0"/>
            <a:endCxn id="716" idx="2"/>
          </p:cNvCxnSpPr>
          <p:nvPr/>
        </p:nvCxnSpPr>
        <p:spPr>
          <a:xfrm flipH="1" rot="10800000">
            <a:off x="2702225" y="1925167"/>
            <a:ext cx="15810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3" name="Google Shape;723;p59"/>
          <p:cNvSpPr/>
          <p:nvPr/>
        </p:nvSpPr>
        <p:spPr>
          <a:xfrm>
            <a:off x="4847950" y="1086569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724" name="Google Shape;724;p59"/>
          <p:cNvSpPr/>
          <p:nvPr/>
        </p:nvSpPr>
        <p:spPr>
          <a:xfrm>
            <a:off x="2319425" y="4295708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</a:t>
            </a:r>
            <a:endParaRPr/>
          </a:p>
        </p:txBody>
      </p:sp>
      <p:sp>
        <p:nvSpPr>
          <p:cNvPr id="725" name="Google Shape;725;p59"/>
          <p:cNvSpPr txBox="1"/>
          <p:nvPr/>
        </p:nvSpPr>
        <p:spPr>
          <a:xfrm>
            <a:off x="3702050" y="4093222"/>
            <a:ext cx="502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value를 이용해서 화면을 어둡게 또는 밝게 토글해줄 수 있어요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6" name="Google Shape;726;p59"/>
          <p:cNvSpPr txBox="1"/>
          <p:nvPr/>
        </p:nvSpPr>
        <p:spPr>
          <a:xfrm>
            <a:off x="1847950" y="4618222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useContext()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727" name="Google Shape;727;p59"/>
          <p:cNvSpPr txBox="1"/>
          <p:nvPr/>
        </p:nvSpPr>
        <p:spPr>
          <a:xfrm>
            <a:off x="4770425" y="165283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ThemeProvider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33" name="Google Shape;733;p6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ThemeProvider :  </a:t>
            </a:r>
            <a:r>
              <a:rPr lang="en"/>
              <a:t>사물함 관리자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ThemeContext : 사물함 자체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value : 사물함 안의 물건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useTheme() : 사물함을 사용하기 위한 열쇠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props drilling</a:t>
            </a:r>
            <a:endParaRPr/>
          </a:p>
        </p:txBody>
      </p:sp>
      <p:sp>
        <p:nvSpPr>
          <p:cNvPr id="739" name="Google Shape;739;p61"/>
          <p:cNvSpPr txBox="1"/>
          <p:nvPr>
            <p:ph idx="1" type="body"/>
          </p:nvPr>
        </p:nvSpPr>
        <p:spPr>
          <a:xfrm>
            <a:off x="311700" y="1280528"/>
            <a:ext cx="40341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App()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const user = { name: “지훈"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&lt;Layout user={user} /&gt; //생성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Layout 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&lt;Header user={user}/&gt;//전달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0" name="Google Shape;740;p61"/>
          <p:cNvSpPr txBox="1"/>
          <p:nvPr>
            <p:ph idx="1" type="body"/>
          </p:nvPr>
        </p:nvSpPr>
        <p:spPr>
          <a:xfrm>
            <a:off x="4572000" y="1396944"/>
            <a:ext cx="40341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Header({user})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&lt;Profile user={user} /&gt; //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전달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Profile 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&lt;span&gt;{</a:t>
            </a:r>
            <a:r>
              <a:rPr lang="en" sz="14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user.name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}&lt;span/&gt; //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실제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== wifi </a:t>
            </a:r>
            <a:r>
              <a:rPr lang="en"/>
              <a:t>공유기 </a:t>
            </a:r>
            <a:endParaRPr/>
          </a:p>
        </p:txBody>
      </p:sp>
      <p:sp>
        <p:nvSpPr>
          <p:cNvPr id="746" name="Google Shape;746;p62"/>
          <p:cNvSpPr txBox="1"/>
          <p:nvPr>
            <p:ph idx="1" type="body"/>
          </p:nvPr>
        </p:nvSpPr>
        <p:spPr>
          <a:xfrm>
            <a:off x="311700" y="1280528"/>
            <a:ext cx="8520600" cy="25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값을 공중에 뿌려두면, 필요한 컴포넌트가 어디서든 직접  잡아서 쓴다.  중간컴포넌트는 배달할 필요 없다.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createContext : 값이 흐를 채널을 하나 만든다.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Provider : 그 채널에 값을 실어 뿌린다.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useContext: 필요한 컴포넌트가 값을 잡는다. </a:t>
            </a:r>
            <a:endParaRPr/>
          </a:p>
        </p:txBody>
      </p:sp>
      <p:sp>
        <p:nvSpPr>
          <p:cNvPr id="747" name="Google Shape;747;p62"/>
          <p:cNvSpPr/>
          <p:nvPr/>
        </p:nvSpPr>
        <p:spPr>
          <a:xfrm>
            <a:off x="1387075" y="4118444"/>
            <a:ext cx="5917500" cy="6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시냇물 ~~~ </a:t>
            </a:r>
            <a:endParaRPr/>
          </a:p>
        </p:txBody>
      </p:sp>
      <p:sp>
        <p:nvSpPr>
          <p:cNvPr id="748" name="Google Shape;748;p62"/>
          <p:cNvSpPr/>
          <p:nvPr/>
        </p:nvSpPr>
        <p:spPr>
          <a:xfrm>
            <a:off x="5387600" y="371738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</a:t>
            </a:r>
            <a:r>
              <a:rPr lang="en"/>
              <a:t> </a:t>
            </a:r>
            <a:endParaRPr/>
          </a:p>
        </p:txBody>
      </p:sp>
      <p:sp>
        <p:nvSpPr>
          <p:cNvPr id="749" name="Google Shape;749;p62"/>
          <p:cNvSpPr/>
          <p:nvPr/>
        </p:nvSpPr>
        <p:spPr>
          <a:xfrm>
            <a:off x="5712650" y="4673861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컴포넌트2 </a:t>
            </a:r>
            <a:endParaRPr/>
          </a:p>
        </p:txBody>
      </p:sp>
      <p:sp>
        <p:nvSpPr>
          <p:cNvPr id="750" name="Google Shape;750;p62"/>
          <p:cNvSpPr/>
          <p:nvPr/>
        </p:nvSpPr>
        <p:spPr>
          <a:xfrm>
            <a:off x="1173975" y="371738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</a:t>
            </a:r>
            <a:endParaRPr/>
          </a:p>
        </p:txBody>
      </p:sp>
      <p:sp>
        <p:nvSpPr>
          <p:cNvPr id="751" name="Google Shape;751;p62"/>
          <p:cNvSpPr/>
          <p:nvPr/>
        </p:nvSpPr>
        <p:spPr>
          <a:xfrm>
            <a:off x="2671800" y="470163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컴포넌트3 </a:t>
            </a:r>
            <a:endParaRPr/>
          </a:p>
        </p:txBody>
      </p:sp>
      <p:sp>
        <p:nvSpPr>
          <p:cNvPr id="752" name="Google Shape;752;p62"/>
          <p:cNvSpPr/>
          <p:nvPr/>
        </p:nvSpPr>
        <p:spPr>
          <a:xfrm>
            <a:off x="4756275" y="4169722"/>
            <a:ext cx="1002000" cy="39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user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53" name="Google Shape;753;p62"/>
          <p:cNvCxnSpPr/>
          <p:nvPr/>
        </p:nvCxnSpPr>
        <p:spPr>
          <a:xfrm>
            <a:off x="2006200" y="4411917"/>
            <a:ext cx="49887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p62"/>
          <p:cNvSpPr/>
          <p:nvPr/>
        </p:nvSpPr>
        <p:spPr>
          <a:xfrm>
            <a:off x="6280550" y="4570667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5" name="Google Shape;755;p62"/>
          <p:cNvSpPr/>
          <p:nvPr/>
        </p:nvSpPr>
        <p:spPr>
          <a:xfrm>
            <a:off x="2864675" y="4602194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62"/>
          <p:cNvSpPr/>
          <p:nvPr/>
        </p:nvSpPr>
        <p:spPr>
          <a:xfrm>
            <a:off x="4572000" y="3958722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62"/>
          <p:cNvSpPr/>
          <p:nvPr/>
        </p:nvSpPr>
        <p:spPr>
          <a:xfrm>
            <a:off x="1863325" y="3611556"/>
            <a:ext cx="1768200" cy="522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createContext , Provdier</a:t>
            </a:r>
            <a:endParaRPr/>
          </a:p>
        </p:txBody>
      </p:sp>
      <p:sp>
        <p:nvSpPr>
          <p:cNvPr id="758" name="Google Shape;758;p62"/>
          <p:cNvSpPr/>
          <p:nvPr/>
        </p:nvSpPr>
        <p:spPr>
          <a:xfrm>
            <a:off x="2864675" y="4279708"/>
            <a:ext cx="1002000" cy="39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r>
              <a:rPr lang="en"/>
              <a:t>로 고친 코드</a:t>
            </a:r>
            <a:endParaRPr/>
          </a:p>
        </p:txBody>
      </p:sp>
      <p:sp>
        <p:nvSpPr>
          <p:cNvPr id="764" name="Google Shape;764;p63"/>
          <p:cNvSpPr txBox="1"/>
          <p:nvPr>
            <p:ph idx="1" type="body"/>
          </p:nvPr>
        </p:nvSpPr>
        <p:spPr>
          <a:xfrm>
            <a:off x="311700" y="1058333"/>
            <a:ext cx="6397500" cy="46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const UserContext= createContext(null) // 1. 채널을 만들어 -&gt; 시내물을 만들고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App()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const user = {name : “지훈"}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&lt;UserContext.Provider value={user}&gt;&lt;Layout/&gt; &lt;/UserContext.Provider&gt;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// 2. user 값을 하위로 뿌려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Layout() {return &lt;Header/&gt;}//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Header() {return &lt;Profile/&gt;}//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Profile()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const user = useContext(UserContext); // 3. 잡아 값을 시냇물에서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return &lt;span&gt; {</a:t>
            </a:r>
            <a:r>
              <a:rPr lang="en" sz="14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user.name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 &lt;/span&gt;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63"/>
          <p:cNvSpPr/>
          <p:nvPr/>
        </p:nvSpPr>
        <p:spPr>
          <a:xfrm>
            <a:off x="6488900" y="1177389"/>
            <a:ext cx="2500200" cy="405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Layout - Header </a:t>
            </a:r>
            <a:r>
              <a:rPr lang="en"/>
              <a:t>에서 user 가 사라짐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Profile 에서 필요한 값을 직접 꺼냄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중간단계 아무리 깊어도 100개까지 간다고해도 배달코드는 0 줄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props 로 넘기던걸 모두 없앴어요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App </a:t>
            </a:r>
            <a:r>
              <a:rPr lang="en"/>
              <a:t>동작방식 이전</a:t>
            </a:r>
            <a:endParaRPr/>
          </a:p>
        </p:txBody>
      </p:sp>
      <p:sp>
        <p:nvSpPr>
          <p:cNvPr id="771" name="Google Shape;771;p64"/>
          <p:cNvSpPr/>
          <p:nvPr/>
        </p:nvSpPr>
        <p:spPr>
          <a:xfrm>
            <a:off x="398450" y="1455583"/>
            <a:ext cx="1455000" cy="3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4"/>
          <p:cNvSpPr/>
          <p:nvPr/>
        </p:nvSpPr>
        <p:spPr>
          <a:xfrm>
            <a:off x="482950" y="1636694"/>
            <a:ext cx="1340400" cy="43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82cook.com</a:t>
            </a:r>
            <a:endParaRPr/>
          </a:p>
        </p:txBody>
      </p:sp>
      <p:sp>
        <p:nvSpPr>
          <p:cNvPr id="773" name="Google Shape;773;p64"/>
          <p:cNvSpPr/>
          <p:nvPr/>
        </p:nvSpPr>
        <p:spPr>
          <a:xfrm>
            <a:off x="3774600" y="1356611"/>
            <a:ext cx="1455000" cy="3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WEB/WAS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4" name="Google Shape;774;p64"/>
          <p:cNvCxnSpPr>
            <a:stCxn id="772" idx="3"/>
          </p:cNvCxnSpPr>
          <p:nvPr/>
        </p:nvCxnSpPr>
        <p:spPr>
          <a:xfrm>
            <a:off x="1823350" y="1854644"/>
            <a:ext cx="19377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64"/>
          <p:cNvSpPr/>
          <p:nvPr/>
        </p:nvSpPr>
        <p:spPr>
          <a:xfrm>
            <a:off x="6453525" y="1737306"/>
            <a:ext cx="1279800" cy="2112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6" name="Google Shape;776;p64"/>
          <p:cNvCxnSpPr>
            <a:endCxn id="775" idx="2"/>
          </p:cNvCxnSpPr>
          <p:nvPr/>
        </p:nvCxnSpPr>
        <p:spPr>
          <a:xfrm>
            <a:off x="5222025" y="1918356"/>
            <a:ext cx="1231500" cy="8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7" name="Google Shape;777;p64"/>
          <p:cNvSpPr txBox="1"/>
          <p:nvPr/>
        </p:nvSpPr>
        <p:spPr>
          <a:xfrm>
            <a:off x="2016350" y="1341694"/>
            <a:ext cx="154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HttpRequest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78" name="Google Shape;778;p64"/>
          <p:cNvSpPr txBox="1"/>
          <p:nvPr/>
        </p:nvSpPr>
        <p:spPr>
          <a:xfrm>
            <a:off x="5386475" y="1705556"/>
            <a:ext cx="24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메인화면에 필요한 데이터를 꺼내요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779" name="Google Shape;779;p64"/>
          <p:cNvCxnSpPr>
            <a:stCxn id="775" idx="2"/>
            <a:endCxn id="773" idx="3"/>
          </p:cNvCxnSpPr>
          <p:nvPr/>
        </p:nvCxnSpPr>
        <p:spPr>
          <a:xfrm flipH="1">
            <a:off x="5229525" y="2793756"/>
            <a:ext cx="122400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0" name="Google Shape;780;p64"/>
          <p:cNvSpPr/>
          <p:nvPr/>
        </p:nvSpPr>
        <p:spPr>
          <a:xfrm>
            <a:off x="3864025" y="2857500"/>
            <a:ext cx="1279800" cy="174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php/jsp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+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&lt;body&gt;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&lt;h1&gt; </a:t>
            </a:r>
            <a:r>
              <a:rPr lang="en"/>
              <a:t>실제데이터를 같이 붙여</a:t>
            </a:r>
            <a:r>
              <a:rPr lang="en"/>
              <a:t>&lt;/h1&gt;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&lt;/body&gt;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1" name="Google Shape;781;p64"/>
          <p:cNvCxnSpPr>
            <a:stCxn id="780" idx="1"/>
          </p:cNvCxnSpPr>
          <p:nvPr/>
        </p:nvCxnSpPr>
        <p:spPr>
          <a:xfrm rot="10800000">
            <a:off x="1669825" y="3618000"/>
            <a:ext cx="21942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2" name="Google Shape;782;p64"/>
          <p:cNvSpPr/>
          <p:nvPr/>
        </p:nvSpPr>
        <p:spPr>
          <a:xfrm>
            <a:off x="4164700" y="4094333"/>
            <a:ext cx="4516560" cy="1478520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데이터가 늦어지면 사용자는 화면도 늦게봐요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788" name="Google Shape;788;p65"/>
          <p:cNvSpPr/>
          <p:nvPr/>
        </p:nvSpPr>
        <p:spPr>
          <a:xfrm>
            <a:off x="455800" y="1475694"/>
            <a:ext cx="2481300" cy="361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5"/>
          <p:cNvSpPr/>
          <p:nvPr/>
        </p:nvSpPr>
        <p:spPr>
          <a:xfrm>
            <a:off x="652000" y="1643389"/>
            <a:ext cx="20889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localhost:5173/posts</a:t>
            </a:r>
            <a:endParaRPr/>
          </a:p>
        </p:txBody>
      </p:sp>
      <p:sp>
        <p:nvSpPr>
          <p:cNvPr id="790" name="Google Shape;790;p65"/>
          <p:cNvSpPr/>
          <p:nvPr/>
        </p:nvSpPr>
        <p:spPr>
          <a:xfrm>
            <a:off x="3798725" y="1475694"/>
            <a:ext cx="1833900" cy="166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(리액트 소스만 제공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UI만 제공 javscript)</a:t>
            </a:r>
            <a:endParaRPr/>
          </a:p>
        </p:txBody>
      </p:sp>
      <p:sp>
        <p:nvSpPr>
          <p:cNvPr id="791" name="Google Shape;791;p65"/>
          <p:cNvSpPr/>
          <p:nvPr/>
        </p:nvSpPr>
        <p:spPr>
          <a:xfrm>
            <a:off x="3798725" y="3427361"/>
            <a:ext cx="1833900" cy="166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Express/Nest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데이터만</a:t>
            </a:r>
            <a:r>
              <a:rPr lang="en"/>
              <a:t> 제공)</a:t>
            </a:r>
            <a:endParaRPr/>
          </a:p>
        </p:txBody>
      </p:sp>
      <p:sp>
        <p:nvSpPr>
          <p:cNvPr id="792" name="Google Shape;792;p65"/>
          <p:cNvSpPr/>
          <p:nvPr/>
        </p:nvSpPr>
        <p:spPr>
          <a:xfrm>
            <a:off x="7272425" y="3139361"/>
            <a:ext cx="1279800" cy="2112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65"/>
          <p:cNvCxnSpPr>
            <a:stCxn id="791" idx="3"/>
            <a:endCxn id="792" idx="2"/>
          </p:cNvCxnSpPr>
          <p:nvPr/>
        </p:nvCxnSpPr>
        <p:spPr>
          <a:xfrm flipH="1" rot="10800000">
            <a:off x="5632625" y="4195661"/>
            <a:ext cx="1639800" cy="6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94" name="Google Shape;794;p65"/>
          <p:cNvSpPr txBox="1"/>
          <p:nvPr/>
        </p:nvSpPr>
        <p:spPr>
          <a:xfrm>
            <a:off x="5893350" y="3456083"/>
            <a:ext cx="173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posts 데이터를 디비에서 가지오와서 (  select * from posts)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795" name="Google Shape;795;p65"/>
          <p:cNvCxnSpPr>
            <a:stCxn id="789" idx="3"/>
            <a:endCxn id="790" idx="1"/>
          </p:cNvCxnSpPr>
          <p:nvPr/>
        </p:nvCxnSpPr>
        <p:spPr>
          <a:xfrm>
            <a:off x="2740900" y="1881589"/>
            <a:ext cx="1057800" cy="4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6" name="Google Shape;796;p65"/>
          <p:cNvSpPr txBox="1"/>
          <p:nvPr/>
        </p:nvSpPr>
        <p:spPr>
          <a:xfrm>
            <a:off x="2853225" y="1292361"/>
            <a:ext cx="13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httpRequest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797" name="Google Shape;797;p65"/>
          <p:cNvCxnSpPr>
            <a:stCxn id="790" idx="1"/>
          </p:cNvCxnSpPr>
          <p:nvPr/>
        </p:nvCxnSpPr>
        <p:spPr>
          <a:xfrm flipH="1">
            <a:off x="2136725" y="2307594"/>
            <a:ext cx="16620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65"/>
          <p:cNvSpPr txBox="1"/>
          <p:nvPr/>
        </p:nvSpPr>
        <p:spPr>
          <a:xfrm>
            <a:off x="2305625" y="2583750"/>
            <a:ext cx="1324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httpResponse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컴파일된 js 파일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(UI) 화면만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799" name="Google Shape;799;p65"/>
          <p:cNvSpPr/>
          <p:nvPr/>
        </p:nvSpPr>
        <p:spPr>
          <a:xfrm>
            <a:off x="582150" y="3376389"/>
            <a:ext cx="2302800" cy="1521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 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(게시글 목록)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fetch(“backendserver”)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res.json()</a:t>
            </a:r>
            <a:endParaRPr/>
          </a:p>
        </p:txBody>
      </p:sp>
      <p:cxnSp>
        <p:nvCxnSpPr>
          <p:cNvPr id="800" name="Google Shape;800;p65"/>
          <p:cNvCxnSpPr>
            <a:stCxn id="799" idx="3"/>
            <a:endCxn id="791" idx="1"/>
          </p:cNvCxnSpPr>
          <p:nvPr/>
        </p:nvCxnSpPr>
        <p:spPr>
          <a:xfrm>
            <a:off x="2884950" y="4137039"/>
            <a:ext cx="9138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p65"/>
          <p:cNvSpPr txBox="1"/>
          <p:nvPr/>
        </p:nvSpPr>
        <p:spPr>
          <a:xfrm>
            <a:off x="2740900" y="3582736"/>
            <a:ext cx="13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httpRequest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02" name="Google Shape;802;p65"/>
          <p:cNvSpPr/>
          <p:nvPr/>
        </p:nvSpPr>
        <p:spPr>
          <a:xfrm>
            <a:off x="5616900" y="3848237"/>
            <a:ext cx="1734475" cy="900019"/>
          </a:xfrm>
          <a:custGeom>
            <a:rect b="b" l="l" r="r" t="t"/>
            <a:pathLst>
              <a:path extrusionOk="0" h="32401" w="69379">
                <a:moveTo>
                  <a:pt x="0" y="6812"/>
                </a:moveTo>
                <a:cubicBezTo>
                  <a:pt x="11558" y="5874"/>
                  <a:pt x="68836" y="-3083"/>
                  <a:pt x="69348" y="1182"/>
                </a:cubicBezTo>
                <a:cubicBezTo>
                  <a:pt x="69860" y="5447"/>
                  <a:pt x="14117" y="27198"/>
                  <a:pt x="3071" y="3240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803" name="Google Shape;803;p65"/>
          <p:cNvCxnSpPr/>
          <p:nvPr/>
        </p:nvCxnSpPr>
        <p:spPr>
          <a:xfrm flipH="1" rot="10800000">
            <a:off x="6384600" y="5210161"/>
            <a:ext cx="63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65"/>
          <p:cNvCxnSpPr/>
          <p:nvPr/>
        </p:nvCxnSpPr>
        <p:spPr>
          <a:xfrm rot="10800000">
            <a:off x="2897950" y="4421217"/>
            <a:ext cx="9021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5" name="Google Shape;805;p65"/>
          <p:cNvSpPr txBox="1"/>
          <p:nvPr/>
        </p:nvSpPr>
        <p:spPr>
          <a:xfrm>
            <a:off x="2771750" y="4562417"/>
            <a:ext cx="119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httpReponse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JSON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06" name="Google Shape;806;p65"/>
          <p:cNvSpPr/>
          <p:nvPr/>
        </p:nvSpPr>
        <p:spPr>
          <a:xfrm>
            <a:off x="1119550" y="4259056"/>
            <a:ext cx="1734600" cy="129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Postman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</a:t>
            </a:r>
            <a:endParaRPr/>
          </a:p>
        </p:txBody>
      </p:sp>
      <p:sp>
        <p:nvSpPr>
          <p:cNvPr id="807" name="Google Shape;807;p65"/>
          <p:cNvSpPr/>
          <p:nvPr/>
        </p:nvSpPr>
        <p:spPr>
          <a:xfrm>
            <a:off x="2571750" y="3383500"/>
            <a:ext cx="1433100" cy="202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65"/>
          <p:cNvCxnSpPr/>
          <p:nvPr/>
        </p:nvCxnSpPr>
        <p:spPr>
          <a:xfrm flipH="1" rot="10800000">
            <a:off x="3985575" y="1229833"/>
            <a:ext cx="1887300" cy="2175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9" name="Google Shape;809;p65"/>
          <p:cNvSpPr/>
          <p:nvPr/>
        </p:nvSpPr>
        <p:spPr>
          <a:xfrm>
            <a:off x="5917575" y="490472"/>
            <a:ext cx="3090000" cy="19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규칙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 : 구성요소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HttpReponse : 구성요소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65"/>
          <p:cNvSpPr/>
          <p:nvPr/>
        </p:nvSpPr>
        <p:spPr>
          <a:xfrm>
            <a:off x="2690825" y="3194833"/>
            <a:ext cx="6102000" cy="2388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 </a:t>
            </a:r>
            <a:r>
              <a:rPr lang="en"/>
              <a:t>구성요소</a:t>
            </a:r>
            <a:endParaRPr/>
          </a:p>
        </p:txBody>
      </p:sp>
      <p:graphicFrame>
        <p:nvGraphicFramePr>
          <p:cNvPr id="816" name="Google Shape;816;p66"/>
          <p:cNvGraphicFramePr/>
          <p:nvPr/>
        </p:nvGraphicFramePr>
        <p:xfrm>
          <a:off x="481625" y="1423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2190050"/>
                <a:gridCol w="3107700"/>
                <a:gridCol w="2648875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항목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의미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무엇을 요청할지 (자원)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(메인화면 요청합니다.)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22"/>
                        <a:buFont typeface="Arial"/>
                        <a:buNone/>
                      </a:pPr>
                      <a:r>
                        <a:rPr lang="en" sz="1556" u="sng">
                          <a:solidFill>
                            <a:schemeClr val="accent5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http://www.naver.com/payment</a:t>
                      </a:r>
                      <a:r>
                        <a:rPr lang="en" sz="1556" u="sng">
                          <a:solidFill>
                            <a:schemeClr val="accent5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http://www.82cook.com/</a:t>
                      </a:r>
                      <a:r>
                        <a:rPr lang="en" sz="1556">
                          <a:solidFill>
                            <a:schemeClr val="dk1"/>
                          </a:solidFill>
                        </a:rPr>
                        <a:t>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서버에 요청할때 부가정보(메타데이터)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로그인 했을 때 인증정보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데이터 타입(json, html ,text)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바디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서버로 보낼 데이터를 담고 있어요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게시글 데이터, 첨부파일 데이터(서버에 전송하고 하는데이터가 담겨있어요)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메서드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데이터요청방식(GET, POST, PUT, PATCH, DELETE)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HttpResponse (</a:t>
            </a:r>
            <a:r>
              <a:rPr lang="en"/>
              <a:t>서버 -&gt; 브라우저에 주는 정보)</a:t>
            </a:r>
            <a:endParaRPr/>
          </a:p>
        </p:txBody>
      </p:sp>
      <p:graphicFrame>
        <p:nvGraphicFramePr>
          <p:cNvPr id="822" name="Google Shape;822;p67"/>
          <p:cNvGraphicFramePr/>
          <p:nvPr/>
        </p:nvGraphicFramePr>
        <p:xfrm>
          <a:off x="952500" y="15610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1847450"/>
                <a:gridCol w="2978550"/>
                <a:gridCol w="2413000"/>
              </a:tblGrid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항목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의미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상태코드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요청이 성공 실패했어 의미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200, 404, 500 </a:t>
                      </a:r>
                      <a:r>
                        <a:rPr lang="en" sz="1556"/>
                        <a:t>미리정의(표준)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부가정보, 메타정보,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Content-Type </a:t>
                      </a:r>
                      <a:r>
                        <a:rPr lang="en" sz="1556"/>
                        <a:t>데이터타입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(html, jso 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응답바디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브라우저에서 받는 응답 본문(서버에 준 실제 데이터, 브라우저 또는 프로그램이 해석해야하는 데이터)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html, json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</a:t>
            </a:r>
            <a:r>
              <a:rPr lang="en"/>
              <a:t>쿼리 설명 </a:t>
            </a:r>
            <a:endParaRPr/>
          </a:p>
        </p:txBody>
      </p:sp>
      <p:sp>
        <p:nvSpPr>
          <p:cNvPr id="828" name="Google Shape;828;p6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https://www.82cook.com/entiz/read.php?bn=15&amp;num=4211458&amp;page=1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https : 요청하는 프로토콜 (http -&gt; 평문전송, https -&gt;서버와 브라우저간에 데이터가  암호화)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www.82cook.com</a:t>
            </a:r>
            <a:r>
              <a:rPr lang="en" sz="1600"/>
              <a:t> : 도메인 (dns 에서 ip와 연결되어 있다)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:80 :포트번호 (컴퓨터에서 사용하는 82cook 서비스를 제공하는 소프트웨어의 연결 지점)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entiz/read.php</a:t>
            </a:r>
            <a:r>
              <a:rPr lang="en" sz="1600"/>
              <a:t> : 라우터 서버내의 자원(페이지를 식별 할 수있는자원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http://localhost:5173/contact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? -&gt; 뒤에는 서버에 보낼 데이터를 정의할 수 있어요 key=value bn 키이고 15 값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&amp; 붙여서 키:값 사이에 넣어서 여러개의 키와 값을 보내줄 수 있게 해줘 </a:t>
            </a:r>
            <a:endParaRPr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params</a:t>
            </a:r>
            <a:endParaRPr/>
          </a:p>
        </p:txBody>
      </p:sp>
      <p:sp>
        <p:nvSpPr>
          <p:cNvPr id="834" name="Google Shape;834;p69"/>
          <p:cNvSpPr txBox="1"/>
          <p:nvPr>
            <p:ph idx="1" type="body"/>
          </p:nvPr>
        </p:nvSpPr>
        <p:spPr>
          <a:xfrm>
            <a:off x="311700" y="1280528"/>
            <a:ext cx="8520600" cy="18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query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http://82cook.com/biz/index.php?page=1&amp;bn=15</a:t>
            </a:r>
            <a:r>
              <a:rPr lang="en"/>
              <a:t> : </a:t>
            </a:r>
            <a:r>
              <a:rPr lang="en"/>
              <a:t>쿼리 방식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페이지 1페이지, bn (게시판 종류 ) 15번 게시판 이야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 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http://localhost:5173/products/1</a:t>
            </a:r>
            <a:r>
              <a:rPr lang="en"/>
              <a:t> : 특정 글 1개만 지정해서 보여주세요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 누구 또는 무엇을 가르킬때 </a:t>
            </a:r>
            <a:endParaRPr/>
          </a:p>
        </p:txBody>
      </p:sp>
      <p:graphicFrame>
        <p:nvGraphicFramePr>
          <p:cNvPr id="835" name="Google Shape;835;p69"/>
          <p:cNvGraphicFramePr/>
          <p:nvPr/>
        </p:nvGraphicFramePr>
        <p:xfrm>
          <a:off x="869175" y="2936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2413000"/>
                <a:gridCol w="2413000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상황(query vs parma)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방식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특정 리소스 1개만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param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products/1, products/2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검색 필터 정렬 페이징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query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?authror=</a:t>
                      </a:r>
                      <a:r>
                        <a:rPr lang="en" sz="1556"/>
                        <a:t>이지훈&amp;</a:t>
                      </a:r>
                      <a:r>
                        <a:rPr lang="en" sz="1556"/>
                        <a:t>page=2 &amp;sort=date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없으면 에러가 발생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param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products/:id -&gt; products/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없어도 동작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query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?author=&amp;page1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</a:t>
            </a:r>
            <a:r>
              <a:rPr lang="en"/>
              <a:t>메서드</a:t>
            </a:r>
            <a:endParaRPr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GET  : </a:t>
            </a:r>
            <a:r>
              <a:rPr lang="en"/>
              <a:t>서버에 리소스를 요청할때 (게시글 목록을 주세요, 게시글 상세 내용을 주세요)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POST : </a:t>
            </a:r>
            <a:r>
              <a:rPr lang="en"/>
              <a:t>서버에 데이터를 전송할때 (게시글 작성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: </a:t>
            </a:r>
            <a:r>
              <a:rPr lang="en"/>
              <a:t>리소스를 수정할 때 ( 게시글 수정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PATCH : </a:t>
            </a:r>
            <a:r>
              <a:rPr lang="en"/>
              <a:t>리소스 수정할때 (게시글 수정)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DELETE  : </a:t>
            </a:r>
            <a:r>
              <a:rPr lang="en"/>
              <a:t>리소스 삭제할때 (게시글 삭제 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응답코드</a:t>
            </a:r>
            <a:endParaRPr/>
          </a:p>
        </p:txBody>
      </p: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200 : </a:t>
            </a:r>
            <a:r>
              <a:rPr lang="en"/>
              <a:t>요청이 성공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200 : 요청이 성공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201 : 요청이 성공적이고, 리소스가 생성되었어요(게시글이 작성되었어요)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300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301 : </a:t>
            </a:r>
            <a:r>
              <a:rPr lang="en"/>
              <a:t>요청한 리소스가 다른 곳으로 갔어요.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400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400 : </a:t>
            </a:r>
            <a:r>
              <a:rPr lang="en"/>
              <a:t>요청이 잘못되었어요( 서버에서 A, B 형태로 요청하길 바랬는데, 클라이트는 A, C ) -&gt; 400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401 : 인증요류 (아이디 패스워드를 서버저장된거와 다르게 넣어써) -&gt; 넌 잘못된 사용자야 인증오류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404 : 리소스를 요청했는데 없는 페이지 였어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500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500 : </a:t>
            </a:r>
            <a:r>
              <a:rPr lang="en"/>
              <a:t>서버에서 오류가 나서 서비스를 할 수 있어요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</a:t>
            </a:r>
            <a:endParaRPr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Javascript Object notation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자바스크립트 객체를 문자열로 직렬화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posts </a:t>
            </a:r>
            <a:r>
              <a:rPr lang="en"/>
              <a:t>컴포넌트 트리</a:t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3030575" y="143547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main.jsx</a:t>
            </a:r>
            <a:endParaRPr/>
          </a:p>
        </p:txBody>
      </p:sp>
      <p:sp>
        <p:nvSpPr>
          <p:cNvPr id="860" name="Google Shape;860;p73"/>
          <p:cNvSpPr/>
          <p:nvPr/>
        </p:nvSpPr>
        <p:spPr>
          <a:xfrm>
            <a:off x="3030575" y="2229806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App.jsx</a:t>
            </a:r>
            <a:endParaRPr/>
          </a:p>
        </p:txBody>
      </p:sp>
      <p:cxnSp>
        <p:nvCxnSpPr>
          <p:cNvPr id="861" name="Google Shape;861;p73"/>
          <p:cNvCxnSpPr>
            <a:stCxn id="860" idx="0"/>
            <a:endCxn id="859" idx="2"/>
          </p:cNvCxnSpPr>
          <p:nvPr/>
        </p:nvCxnSpPr>
        <p:spPr>
          <a:xfrm rot="10800000">
            <a:off x="4129325" y="1925006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2" name="Google Shape;862;p73"/>
          <p:cNvSpPr/>
          <p:nvPr/>
        </p:nvSpPr>
        <p:spPr>
          <a:xfrm>
            <a:off x="2066125" y="317722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PostList.jsx</a:t>
            </a:r>
            <a:endParaRPr/>
          </a:p>
        </p:txBody>
      </p:sp>
      <p:sp>
        <p:nvSpPr>
          <p:cNvPr id="863" name="Google Shape;863;p73"/>
          <p:cNvSpPr/>
          <p:nvPr/>
        </p:nvSpPr>
        <p:spPr>
          <a:xfrm>
            <a:off x="4572000" y="3150389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PostForm.jsx</a:t>
            </a:r>
            <a:endParaRPr/>
          </a:p>
        </p:txBody>
      </p:sp>
      <p:cxnSp>
        <p:nvCxnSpPr>
          <p:cNvPr id="864" name="Google Shape;864;p73"/>
          <p:cNvCxnSpPr>
            <a:stCxn id="862" idx="0"/>
            <a:endCxn id="860" idx="2"/>
          </p:cNvCxnSpPr>
          <p:nvPr/>
        </p:nvCxnSpPr>
        <p:spPr>
          <a:xfrm rot="-5400000">
            <a:off x="3418225" y="2466072"/>
            <a:ext cx="457800" cy="9645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5" name="Google Shape;865;p73"/>
          <p:cNvCxnSpPr>
            <a:stCxn id="863" idx="0"/>
            <a:endCxn id="860" idx="2"/>
          </p:cNvCxnSpPr>
          <p:nvPr/>
        </p:nvCxnSpPr>
        <p:spPr>
          <a:xfrm flipH="1" rot="5400000">
            <a:off x="4684500" y="2164139"/>
            <a:ext cx="431100" cy="15414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6" name="Google Shape;866;p73"/>
          <p:cNvSpPr/>
          <p:nvPr/>
        </p:nvSpPr>
        <p:spPr>
          <a:xfrm>
            <a:off x="2066125" y="4124639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PostItem.jsx</a:t>
            </a:r>
            <a:endParaRPr/>
          </a:p>
        </p:txBody>
      </p:sp>
      <p:cxnSp>
        <p:nvCxnSpPr>
          <p:cNvPr id="867" name="Google Shape;867;p73"/>
          <p:cNvCxnSpPr>
            <a:stCxn id="866" idx="0"/>
            <a:endCxn id="862" idx="2"/>
          </p:cNvCxnSpPr>
          <p:nvPr/>
        </p:nvCxnSpPr>
        <p:spPr>
          <a:xfrm rot="10800000">
            <a:off x="3164875" y="3666839"/>
            <a:ext cx="0" cy="4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역할 분리 (레이어)</a:t>
            </a:r>
            <a:endParaRPr/>
          </a:p>
        </p:txBody>
      </p:sp>
      <p:grpSp>
        <p:nvGrpSpPr>
          <p:cNvPr id="873" name="Google Shape;873;p74"/>
          <p:cNvGrpSpPr/>
          <p:nvPr/>
        </p:nvGrpSpPr>
        <p:grpSpPr>
          <a:xfrm>
            <a:off x="5783425" y="4031321"/>
            <a:ext cx="3000325" cy="1281321"/>
            <a:chOff x="5783425" y="3628225"/>
            <a:chExt cx="3000325" cy="1153200"/>
          </a:xfrm>
        </p:grpSpPr>
        <p:sp>
          <p:nvSpPr>
            <p:cNvPr id="874" name="Google Shape;874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외부 레이어</a:t>
              </a:r>
              <a:endParaRPr/>
            </a:p>
          </p:txBody>
        </p:sp>
      </p:grpSp>
      <p:sp>
        <p:nvSpPr>
          <p:cNvPr id="876" name="Google Shape;876;p74"/>
          <p:cNvSpPr/>
          <p:nvPr/>
        </p:nvSpPr>
        <p:spPr>
          <a:xfrm>
            <a:off x="6043000" y="4541139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- posts REST</a:t>
            </a:r>
            <a:endParaRPr/>
          </a:p>
        </p:txBody>
      </p:sp>
      <p:grpSp>
        <p:nvGrpSpPr>
          <p:cNvPr id="877" name="Google Shape;877;p74"/>
          <p:cNvGrpSpPr/>
          <p:nvPr/>
        </p:nvGrpSpPr>
        <p:grpSpPr>
          <a:xfrm>
            <a:off x="5759338" y="2436515"/>
            <a:ext cx="3000325" cy="1281321"/>
            <a:chOff x="5783425" y="3628225"/>
            <a:chExt cx="3000325" cy="1153200"/>
          </a:xfrm>
        </p:grpSpPr>
        <p:sp>
          <p:nvSpPr>
            <p:cNvPr id="878" name="Google Shape;878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API </a:t>
              </a:r>
              <a:r>
                <a:rPr lang="en"/>
                <a:t>레이어</a:t>
              </a:r>
              <a:endParaRPr/>
            </a:p>
          </p:txBody>
        </p:sp>
      </p:grpSp>
      <p:sp>
        <p:nvSpPr>
          <p:cNvPr id="880" name="Google Shape;880;p74"/>
          <p:cNvSpPr/>
          <p:nvPr/>
        </p:nvSpPr>
        <p:spPr>
          <a:xfrm>
            <a:off x="6042988" y="2973167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api/</a:t>
            </a:r>
            <a:r>
              <a:rPr lang="en" u="sng">
                <a:solidFill>
                  <a:schemeClr val="hlink"/>
                </a:solidFill>
                <a:hlinkClick r:id="rId3"/>
              </a:rPr>
              <a:t>posts.js</a:t>
            </a:r>
            <a:r>
              <a:rPr lang="en"/>
              <a:t> (fetch)</a:t>
            </a:r>
            <a:endParaRPr/>
          </a:p>
        </p:txBody>
      </p:sp>
      <p:cxnSp>
        <p:nvCxnSpPr>
          <p:cNvPr id="881" name="Google Shape;881;p74"/>
          <p:cNvCxnSpPr>
            <a:stCxn id="876" idx="0"/>
            <a:endCxn id="880" idx="2"/>
          </p:cNvCxnSpPr>
          <p:nvPr/>
        </p:nvCxnSpPr>
        <p:spPr>
          <a:xfrm rot="10800000">
            <a:off x="7259500" y="3536439"/>
            <a:ext cx="0" cy="10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2" name="Google Shape;882;p74"/>
          <p:cNvGrpSpPr/>
          <p:nvPr/>
        </p:nvGrpSpPr>
        <p:grpSpPr>
          <a:xfrm>
            <a:off x="5759325" y="928904"/>
            <a:ext cx="3000325" cy="1281321"/>
            <a:chOff x="5783425" y="3628225"/>
            <a:chExt cx="3000325" cy="1153200"/>
          </a:xfrm>
        </p:grpSpPr>
        <p:sp>
          <p:nvSpPr>
            <p:cNvPr id="883" name="Google Shape;883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비즈니스로직 레이어</a:t>
              </a:r>
              <a:endParaRPr/>
            </a:p>
          </p:txBody>
        </p:sp>
      </p:grpSp>
      <p:sp>
        <p:nvSpPr>
          <p:cNvPr id="885" name="Google Shape;885;p74"/>
          <p:cNvSpPr/>
          <p:nvPr/>
        </p:nvSpPr>
        <p:spPr>
          <a:xfrm>
            <a:off x="6042988" y="1405194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hook/usePosts.js</a:t>
            </a:r>
            <a:endParaRPr/>
          </a:p>
        </p:txBody>
      </p:sp>
      <p:cxnSp>
        <p:nvCxnSpPr>
          <p:cNvPr id="886" name="Google Shape;886;p74"/>
          <p:cNvCxnSpPr>
            <a:stCxn id="880" idx="0"/>
            <a:endCxn id="885" idx="2"/>
          </p:cNvCxnSpPr>
          <p:nvPr/>
        </p:nvCxnSpPr>
        <p:spPr>
          <a:xfrm rot="10800000">
            <a:off x="7259488" y="1968467"/>
            <a:ext cx="0" cy="10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7" name="Google Shape;887;p74"/>
          <p:cNvGrpSpPr/>
          <p:nvPr/>
        </p:nvGrpSpPr>
        <p:grpSpPr>
          <a:xfrm>
            <a:off x="350084" y="3927293"/>
            <a:ext cx="4333200" cy="1281321"/>
            <a:chOff x="4450450" y="3628225"/>
            <a:chExt cx="4333200" cy="1153200"/>
          </a:xfrm>
        </p:grpSpPr>
        <p:sp>
          <p:nvSpPr>
            <p:cNvPr id="888" name="Google Shape;888;p74"/>
            <p:cNvSpPr/>
            <p:nvPr/>
          </p:nvSpPr>
          <p:spPr>
            <a:xfrm>
              <a:off x="4450450" y="3628225"/>
              <a:ext cx="43332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74"/>
            <p:cNvSpPr/>
            <p:nvPr/>
          </p:nvSpPr>
          <p:spPr>
            <a:xfrm>
              <a:off x="4450450" y="3634250"/>
              <a:ext cx="4333200" cy="27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UI </a:t>
              </a:r>
              <a:r>
                <a:rPr lang="en"/>
                <a:t>레이어</a:t>
              </a:r>
              <a:endParaRPr/>
            </a:p>
          </p:txBody>
        </p:sp>
      </p:grpSp>
      <p:sp>
        <p:nvSpPr>
          <p:cNvPr id="890" name="Google Shape;890;p74"/>
          <p:cNvSpPr/>
          <p:nvPr/>
        </p:nvSpPr>
        <p:spPr>
          <a:xfrm>
            <a:off x="47614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PostForm</a:t>
            </a:r>
            <a:endParaRPr/>
          </a:p>
        </p:txBody>
      </p:sp>
      <p:sp>
        <p:nvSpPr>
          <p:cNvPr id="891" name="Google Shape;891;p74"/>
          <p:cNvSpPr/>
          <p:nvPr/>
        </p:nvSpPr>
        <p:spPr>
          <a:xfrm>
            <a:off x="186964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PostList</a:t>
            </a:r>
            <a:endParaRPr/>
          </a:p>
        </p:txBody>
      </p:sp>
      <p:sp>
        <p:nvSpPr>
          <p:cNvPr id="892" name="Google Shape;892;p74"/>
          <p:cNvSpPr/>
          <p:nvPr/>
        </p:nvSpPr>
        <p:spPr>
          <a:xfrm>
            <a:off x="328889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PostItem</a:t>
            </a:r>
            <a:endParaRPr/>
          </a:p>
        </p:txBody>
      </p:sp>
      <p:cxnSp>
        <p:nvCxnSpPr>
          <p:cNvPr id="893" name="Google Shape;893;p74"/>
          <p:cNvCxnSpPr>
            <a:stCxn id="892" idx="1"/>
            <a:endCxn id="891" idx="3"/>
          </p:cNvCxnSpPr>
          <p:nvPr/>
        </p:nvCxnSpPr>
        <p:spPr>
          <a:xfrm rot="10800000">
            <a:off x="3152699" y="4672061"/>
            <a:ext cx="13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4" name="Google Shape;894;p74"/>
          <p:cNvGrpSpPr/>
          <p:nvPr/>
        </p:nvGrpSpPr>
        <p:grpSpPr>
          <a:xfrm>
            <a:off x="432100" y="1405368"/>
            <a:ext cx="4333200" cy="1907277"/>
            <a:chOff x="4450450" y="3628225"/>
            <a:chExt cx="4333200" cy="1153200"/>
          </a:xfrm>
        </p:grpSpPr>
        <p:sp>
          <p:nvSpPr>
            <p:cNvPr id="895" name="Google Shape;895;p74"/>
            <p:cNvSpPr/>
            <p:nvPr/>
          </p:nvSpPr>
          <p:spPr>
            <a:xfrm>
              <a:off x="4450450" y="3628225"/>
              <a:ext cx="43332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4"/>
            <p:cNvSpPr/>
            <p:nvPr/>
          </p:nvSpPr>
          <p:spPr>
            <a:xfrm>
              <a:off x="4450450" y="3634256"/>
              <a:ext cx="4333200" cy="21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조합 레이어</a:t>
              </a:r>
              <a:endParaRPr/>
            </a:p>
          </p:txBody>
        </p:sp>
      </p:grpSp>
      <p:sp>
        <p:nvSpPr>
          <p:cNvPr id="897" name="Google Shape;897;p74"/>
          <p:cNvSpPr/>
          <p:nvPr/>
        </p:nvSpPr>
        <p:spPr>
          <a:xfrm>
            <a:off x="632851" y="1873222"/>
            <a:ext cx="3838800" cy="1247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posts, editingPost, handleSubmit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from </a:t>
            </a:r>
            <a:r>
              <a:rPr lang="en"/>
              <a:t>로직레이어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PostList, Postform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8" name="Google Shape;898;p74"/>
          <p:cNvCxnSpPr>
            <a:stCxn id="885" idx="1"/>
            <a:endCxn id="897" idx="3"/>
          </p:cNvCxnSpPr>
          <p:nvPr/>
        </p:nvCxnSpPr>
        <p:spPr>
          <a:xfrm flipH="1">
            <a:off x="4471588" y="1686894"/>
            <a:ext cx="1571400" cy="8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4"/>
          <p:cNvCxnSpPr>
            <a:stCxn id="889" idx="0"/>
            <a:endCxn id="897" idx="2"/>
          </p:cNvCxnSpPr>
          <p:nvPr/>
        </p:nvCxnSpPr>
        <p:spPr>
          <a:xfrm flipH="1" rot="10800000">
            <a:off x="2516684" y="3120687"/>
            <a:ext cx="35700" cy="8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74"/>
          <p:cNvCxnSpPr/>
          <p:nvPr/>
        </p:nvCxnSpPr>
        <p:spPr>
          <a:xfrm>
            <a:off x="2571750" y="2402583"/>
            <a:ext cx="129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각 파일별 역할 </a:t>
            </a:r>
            <a:endParaRPr/>
          </a:p>
        </p:txBody>
      </p:sp>
      <p:graphicFrame>
        <p:nvGraphicFramePr>
          <p:cNvPr id="906" name="Google Shape;906;p75"/>
          <p:cNvGraphicFramePr/>
          <p:nvPr/>
        </p:nvGraphicFramePr>
        <p:xfrm>
          <a:off x="9525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1669550"/>
                <a:gridCol w="556945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App.jsx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usePosts </a:t>
                      </a:r>
                      <a:r>
                        <a:rPr lang="en" sz="1556"/>
                        <a:t>라는 훅으로 데이터를 받고 editingPost 수정모드 관리, 자식(PostForm, PostList)에게 props (posts, handleSubmit, handleDelete ) 로 전달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PostForm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제목/내용을 입력받았고,editingPost가 있으면 수정보드, 없으면 입력모드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PostList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loading, error -&gt; </a:t>
                      </a:r>
                      <a:r>
                        <a:rPr lang="en" sz="1556"/>
                        <a:t>빈목록, 에러처리,  PostItem을 호출해서 목록만들었음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PostItem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글 1개를 표시, 수정/삭제는 부모에 (onEdit, onDelete)를 호출해서  처리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usePosts.js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컴포넌트가 로드되면 posts 목록을 useEffect에서 load , add/edit/remove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api/posts.js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Supabase </a:t>
                      </a:r>
                      <a:r>
                        <a:rPr lang="en" sz="1556"/>
                        <a:t>곳에서 HTTP 로 통신하면서 CRUD(create, read,update,delete)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영화검색앱 - 컴포넌트 구조</a:t>
            </a:r>
            <a:endParaRPr/>
          </a:p>
        </p:txBody>
      </p:sp>
      <p:sp>
        <p:nvSpPr>
          <p:cNvPr id="912" name="Google Shape;912;p76"/>
          <p:cNvSpPr/>
          <p:nvPr/>
        </p:nvSpPr>
        <p:spPr>
          <a:xfrm>
            <a:off x="3030575" y="143547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main.jsx</a:t>
            </a:r>
            <a:endParaRPr/>
          </a:p>
        </p:txBody>
      </p:sp>
      <p:sp>
        <p:nvSpPr>
          <p:cNvPr id="913" name="Google Shape;913;p76"/>
          <p:cNvSpPr/>
          <p:nvPr/>
        </p:nvSpPr>
        <p:spPr>
          <a:xfrm>
            <a:off x="3030575" y="2229806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App.jsx</a:t>
            </a:r>
            <a:endParaRPr/>
          </a:p>
        </p:txBody>
      </p:sp>
      <p:cxnSp>
        <p:nvCxnSpPr>
          <p:cNvPr id="914" name="Google Shape;914;p76"/>
          <p:cNvCxnSpPr>
            <a:stCxn id="913" idx="0"/>
            <a:endCxn id="912" idx="2"/>
          </p:cNvCxnSpPr>
          <p:nvPr/>
        </p:nvCxnSpPr>
        <p:spPr>
          <a:xfrm rot="10800000">
            <a:off x="4129325" y="1925006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5" name="Google Shape;915;p76"/>
          <p:cNvSpPr/>
          <p:nvPr/>
        </p:nvSpPr>
        <p:spPr>
          <a:xfrm>
            <a:off x="1703900" y="3090028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Navbar.jsx</a:t>
            </a:r>
            <a:endParaRPr/>
          </a:p>
        </p:txBody>
      </p:sp>
      <p:sp>
        <p:nvSpPr>
          <p:cNvPr id="916" name="Google Shape;916;p76"/>
          <p:cNvSpPr/>
          <p:nvPr/>
        </p:nvSpPr>
        <p:spPr>
          <a:xfrm>
            <a:off x="4349550" y="3090028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Routes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355250" y="3979806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</a:t>
            </a:r>
            <a:endParaRPr/>
          </a:p>
        </p:txBody>
      </p:sp>
      <p:sp>
        <p:nvSpPr>
          <p:cNvPr id="918" name="Google Shape;918;p76"/>
          <p:cNvSpPr/>
          <p:nvPr/>
        </p:nvSpPr>
        <p:spPr>
          <a:xfrm>
            <a:off x="215505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MovieDetail</a:t>
            </a:r>
            <a:endParaRPr/>
          </a:p>
        </p:txBody>
      </p:sp>
      <p:sp>
        <p:nvSpPr>
          <p:cNvPr id="919" name="Google Shape;919;p76"/>
          <p:cNvSpPr/>
          <p:nvPr/>
        </p:nvSpPr>
        <p:spPr>
          <a:xfrm>
            <a:off x="390140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NotFound</a:t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578210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</a:t>
            </a:r>
            <a:endParaRPr/>
          </a:p>
        </p:txBody>
      </p:sp>
      <p:cxnSp>
        <p:nvCxnSpPr>
          <p:cNvPr id="921" name="Google Shape;921;p76"/>
          <p:cNvCxnSpPr>
            <a:stCxn id="913" idx="2"/>
            <a:endCxn id="915" idx="0"/>
          </p:cNvCxnSpPr>
          <p:nvPr/>
        </p:nvCxnSpPr>
        <p:spPr>
          <a:xfrm rot="5400000">
            <a:off x="3280775" y="2241356"/>
            <a:ext cx="370500" cy="1326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2" name="Google Shape;922;p76"/>
          <p:cNvCxnSpPr>
            <a:stCxn id="913" idx="2"/>
            <a:endCxn id="916" idx="0"/>
          </p:cNvCxnSpPr>
          <p:nvPr/>
        </p:nvCxnSpPr>
        <p:spPr>
          <a:xfrm flipH="1" rot="-5400000">
            <a:off x="4603625" y="2245106"/>
            <a:ext cx="370500" cy="13191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3" name="Google Shape;923;p76"/>
          <p:cNvCxnSpPr>
            <a:stCxn id="916" idx="2"/>
            <a:endCxn id="917" idx="0"/>
          </p:cNvCxnSpPr>
          <p:nvPr/>
        </p:nvCxnSpPr>
        <p:spPr>
          <a:xfrm rot="5400000">
            <a:off x="3056700" y="1588228"/>
            <a:ext cx="400200" cy="43830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76"/>
          <p:cNvCxnSpPr>
            <a:stCxn id="916" idx="2"/>
            <a:endCxn id="918" idx="0"/>
          </p:cNvCxnSpPr>
          <p:nvPr/>
        </p:nvCxnSpPr>
        <p:spPr>
          <a:xfrm rot="5400000">
            <a:off x="3937800" y="2506828"/>
            <a:ext cx="437700" cy="258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76"/>
          <p:cNvCxnSpPr>
            <a:stCxn id="916" idx="2"/>
            <a:endCxn id="919" idx="0"/>
          </p:cNvCxnSpPr>
          <p:nvPr/>
        </p:nvCxnSpPr>
        <p:spPr>
          <a:xfrm rot="5400000">
            <a:off x="4811100" y="3380128"/>
            <a:ext cx="437700" cy="83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76"/>
          <p:cNvCxnSpPr>
            <a:stCxn id="916" idx="2"/>
            <a:endCxn id="920" idx="0"/>
          </p:cNvCxnSpPr>
          <p:nvPr/>
        </p:nvCxnSpPr>
        <p:spPr>
          <a:xfrm flipH="1" rot="-5400000">
            <a:off x="5751450" y="3276478"/>
            <a:ext cx="437700" cy="1044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7" name="Google Shape;927;p76"/>
          <p:cNvSpPr/>
          <p:nvPr/>
        </p:nvSpPr>
        <p:spPr>
          <a:xfrm>
            <a:off x="386100" y="4869583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SearchBar</a:t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2155050" y="4877583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</a:t>
            </a:r>
            <a:endParaRPr/>
          </a:p>
        </p:txBody>
      </p:sp>
      <p:sp>
        <p:nvSpPr>
          <p:cNvPr id="929" name="Google Shape;929;p76"/>
          <p:cNvSpPr/>
          <p:nvPr/>
        </p:nvSpPr>
        <p:spPr>
          <a:xfrm>
            <a:off x="3996350" y="4839917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MovieGrid</a:t>
            </a:r>
            <a:endParaRPr/>
          </a:p>
        </p:txBody>
      </p:sp>
      <p:sp>
        <p:nvSpPr>
          <p:cNvPr id="930" name="Google Shape;930;p76"/>
          <p:cNvSpPr/>
          <p:nvPr/>
        </p:nvSpPr>
        <p:spPr>
          <a:xfrm>
            <a:off x="5728925" y="4839917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ErrorMessage</a:t>
            </a:r>
            <a:endParaRPr/>
          </a:p>
        </p:txBody>
      </p:sp>
      <p:sp>
        <p:nvSpPr>
          <p:cNvPr id="931" name="Google Shape;931;p76"/>
          <p:cNvSpPr/>
          <p:nvPr/>
        </p:nvSpPr>
        <p:spPr>
          <a:xfrm>
            <a:off x="7289850" y="5549472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MovieCard</a:t>
            </a:r>
            <a:endParaRPr/>
          </a:p>
        </p:txBody>
      </p:sp>
      <p:cxnSp>
        <p:nvCxnSpPr>
          <p:cNvPr id="932" name="Google Shape;932;p76"/>
          <p:cNvCxnSpPr>
            <a:stCxn id="917" idx="2"/>
            <a:endCxn id="930" idx="0"/>
          </p:cNvCxnSpPr>
          <p:nvPr/>
        </p:nvCxnSpPr>
        <p:spPr>
          <a:xfrm flipH="1" rot="-5400000">
            <a:off x="3566900" y="1967856"/>
            <a:ext cx="370500" cy="5373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76"/>
          <p:cNvCxnSpPr>
            <a:stCxn id="917" idx="2"/>
            <a:endCxn id="927" idx="0"/>
          </p:cNvCxnSpPr>
          <p:nvPr/>
        </p:nvCxnSpPr>
        <p:spPr>
          <a:xfrm flipH="1" rot="-5400000">
            <a:off x="880700" y="4654056"/>
            <a:ext cx="400200" cy="309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4" name="Google Shape;934;p76"/>
          <p:cNvCxnSpPr>
            <a:stCxn id="918" idx="2"/>
            <a:endCxn id="928" idx="0"/>
          </p:cNvCxnSpPr>
          <p:nvPr/>
        </p:nvCxnSpPr>
        <p:spPr>
          <a:xfrm flipH="1" rot="-5400000">
            <a:off x="2680200" y="4691911"/>
            <a:ext cx="370500" cy="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5" name="Google Shape;935;p76"/>
          <p:cNvCxnSpPr>
            <a:stCxn id="917" idx="2"/>
            <a:endCxn id="929" idx="0"/>
          </p:cNvCxnSpPr>
          <p:nvPr/>
        </p:nvCxnSpPr>
        <p:spPr>
          <a:xfrm flipH="1" rot="-5400000">
            <a:off x="2700650" y="2834106"/>
            <a:ext cx="370500" cy="36411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6" name="Google Shape;936;p76"/>
          <p:cNvCxnSpPr>
            <a:stCxn id="929" idx="2"/>
            <a:endCxn id="931" idx="0"/>
          </p:cNvCxnSpPr>
          <p:nvPr/>
        </p:nvCxnSpPr>
        <p:spPr>
          <a:xfrm flipH="1" rot="-5400000">
            <a:off x="6243200" y="3792767"/>
            <a:ext cx="219900" cy="3293400"/>
          </a:xfrm>
          <a:prstGeom prst="bentConnector3">
            <a:avLst>
              <a:gd fmla="val 499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77"/>
          <p:cNvGrpSpPr/>
          <p:nvPr/>
        </p:nvGrpSpPr>
        <p:grpSpPr>
          <a:xfrm>
            <a:off x="42625" y="-1099590"/>
            <a:ext cx="3000325" cy="1281321"/>
            <a:chOff x="5783425" y="3628225"/>
            <a:chExt cx="3000325" cy="1153200"/>
          </a:xfrm>
        </p:grpSpPr>
        <p:sp>
          <p:nvSpPr>
            <p:cNvPr id="942" name="Google Shape;942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조합</a:t>
              </a:r>
              <a:r>
                <a:rPr lang="en"/>
                <a:t> 레이어</a:t>
              </a:r>
              <a:endParaRPr/>
            </a:p>
          </p:txBody>
        </p:sp>
      </p:grpSp>
      <p:sp>
        <p:nvSpPr>
          <p:cNvPr id="944" name="Google Shape;944;p77"/>
          <p:cNvSpPr/>
          <p:nvPr/>
        </p:nvSpPr>
        <p:spPr>
          <a:xfrm>
            <a:off x="380613" y="-549522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 (</a:t>
            </a:r>
            <a:r>
              <a:rPr lang="en"/>
              <a:t>라우팅, Provider)</a:t>
            </a:r>
            <a:endParaRPr/>
          </a:p>
        </p:txBody>
      </p:sp>
      <p:grpSp>
        <p:nvGrpSpPr>
          <p:cNvPr id="945" name="Google Shape;945;p77"/>
          <p:cNvGrpSpPr/>
          <p:nvPr/>
        </p:nvGrpSpPr>
        <p:grpSpPr>
          <a:xfrm>
            <a:off x="-2008683" y="520410"/>
            <a:ext cx="6775334" cy="1281321"/>
            <a:chOff x="5783425" y="3628225"/>
            <a:chExt cx="3000325" cy="1153200"/>
          </a:xfrm>
        </p:grpSpPr>
        <p:sp>
          <p:nvSpPr>
            <p:cNvPr id="946" name="Google Shape;946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페이지</a:t>
              </a:r>
              <a:r>
                <a:rPr lang="en"/>
                <a:t> 레이어 ( pages ) </a:t>
              </a:r>
              <a:endParaRPr/>
            </a:p>
          </p:txBody>
        </p:sp>
      </p:grpSp>
      <p:sp>
        <p:nvSpPr>
          <p:cNvPr id="948" name="Google Shape;948;p77"/>
          <p:cNvSpPr/>
          <p:nvPr/>
        </p:nvSpPr>
        <p:spPr>
          <a:xfrm>
            <a:off x="-1670476" y="1070478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</a:t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-250300" y="1070478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MovieDetail</a:t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1187975" y="1038561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</a:t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2696625" y="1038561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NotFound</a:t>
            </a:r>
            <a:endParaRPr/>
          </a:p>
        </p:txBody>
      </p:sp>
      <p:grpSp>
        <p:nvGrpSpPr>
          <p:cNvPr id="952" name="Google Shape;952;p77"/>
          <p:cNvGrpSpPr/>
          <p:nvPr/>
        </p:nvGrpSpPr>
        <p:grpSpPr>
          <a:xfrm>
            <a:off x="-2008477" y="2140361"/>
            <a:ext cx="9471426" cy="1281321"/>
            <a:chOff x="5783425" y="3628225"/>
            <a:chExt cx="3000325" cy="1153200"/>
          </a:xfrm>
        </p:grpSpPr>
        <p:sp>
          <p:nvSpPr>
            <p:cNvPr id="953" name="Google Shape;953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UI </a:t>
              </a:r>
              <a:r>
                <a:rPr lang="en"/>
                <a:t>컴포넌트 </a:t>
              </a:r>
              <a:r>
                <a:rPr lang="en"/>
                <a:t>레이어 (components)</a:t>
              </a:r>
              <a:endParaRPr/>
            </a:p>
          </p:txBody>
        </p:sp>
      </p:grpSp>
      <p:sp>
        <p:nvSpPr>
          <p:cNvPr id="955" name="Google Shape;955;p77"/>
          <p:cNvSpPr/>
          <p:nvPr/>
        </p:nvSpPr>
        <p:spPr>
          <a:xfrm>
            <a:off x="-1763551" y="2575803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Navbar</a:t>
            </a:r>
            <a:endParaRPr/>
          </a:p>
        </p:txBody>
      </p:sp>
      <p:sp>
        <p:nvSpPr>
          <p:cNvPr id="956" name="Google Shape;956;p77"/>
          <p:cNvSpPr/>
          <p:nvPr/>
        </p:nvSpPr>
        <p:spPr>
          <a:xfrm>
            <a:off x="-442626" y="2575803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SearchBar</a:t>
            </a:r>
            <a:endParaRPr/>
          </a:p>
        </p:txBody>
      </p:sp>
      <p:sp>
        <p:nvSpPr>
          <p:cNvPr id="957" name="Google Shape;957;p77"/>
          <p:cNvSpPr/>
          <p:nvPr/>
        </p:nvSpPr>
        <p:spPr>
          <a:xfrm>
            <a:off x="878298" y="2626625"/>
            <a:ext cx="13509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Laoding/ErrorMessage</a:t>
            </a:r>
            <a:endParaRPr/>
          </a:p>
        </p:txBody>
      </p:sp>
      <p:sp>
        <p:nvSpPr>
          <p:cNvPr id="958" name="Google Shape;958;p77"/>
          <p:cNvSpPr/>
          <p:nvPr/>
        </p:nvSpPr>
        <p:spPr>
          <a:xfrm>
            <a:off x="2326875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MoveiDetailView</a:t>
            </a: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3907750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MovieGrid</a:t>
            </a:r>
            <a:endParaRPr/>
          </a:p>
        </p:txBody>
      </p:sp>
      <p:sp>
        <p:nvSpPr>
          <p:cNvPr id="960" name="Google Shape;960;p77"/>
          <p:cNvSpPr/>
          <p:nvPr/>
        </p:nvSpPr>
        <p:spPr>
          <a:xfrm>
            <a:off x="5488625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MovieCard</a:t>
            </a:r>
            <a:endParaRPr/>
          </a:p>
        </p:txBody>
      </p:sp>
      <p:grpSp>
        <p:nvGrpSpPr>
          <p:cNvPr id="961" name="Google Shape;961;p77"/>
          <p:cNvGrpSpPr/>
          <p:nvPr/>
        </p:nvGrpSpPr>
        <p:grpSpPr>
          <a:xfrm>
            <a:off x="6657601" y="0"/>
            <a:ext cx="3451398" cy="1281321"/>
            <a:chOff x="4527625" y="3628215"/>
            <a:chExt cx="4256257" cy="1153200"/>
          </a:xfrm>
        </p:grpSpPr>
        <p:sp>
          <p:nvSpPr>
            <p:cNvPr id="962" name="Google Shape;962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Context 레이어 (context)</a:t>
              </a:r>
              <a:endParaRPr/>
            </a:p>
          </p:txBody>
        </p:sp>
      </p:grpSp>
      <p:sp>
        <p:nvSpPr>
          <p:cNvPr id="964" name="Google Shape;964;p77"/>
          <p:cNvSpPr/>
          <p:nvPr/>
        </p:nvSpPr>
        <p:spPr>
          <a:xfrm>
            <a:off x="7009300" y="602425"/>
            <a:ext cx="2748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FavriteContext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useFavoriteContext</a:t>
            </a:r>
            <a:endParaRPr/>
          </a:p>
        </p:txBody>
      </p:sp>
      <p:grpSp>
        <p:nvGrpSpPr>
          <p:cNvPr id="965" name="Google Shape;965;p77"/>
          <p:cNvGrpSpPr/>
          <p:nvPr/>
        </p:nvGrpSpPr>
        <p:grpSpPr>
          <a:xfrm>
            <a:off x="7094863" y="4944311"/>
            <a:ext cx="4512058" cy="1281321"/>
            <a:chOff x="4527625" y="3628215"/>
            <a:chExt cx="4256257" cy="1153200"/>
          </a:xfrm>
        </p:grpSpPr>
        <p:sp>
          <p:nvSpPr>
            <p:cNvPr id="966" name="Google Shape;966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데이터소스</a:t>
              </a:r>
              <a:endParaRPr/>
            </a:p>
          </p:txBody>
        </p:sp>
      </p:grpSp>
      <p:sp>
        <p:nvSpPr>
          <p:cNvPr id="968" name="Google Shape;968;p77"/>
          <p:cNvSpPr/>
          <p:nvPr/>
        </p:nvSpPr>
        <p:spPr>
          <a:xfrm>
            <a:off x="7305775" y="5538250"/>
            <a:ext cx="1145700" cy="563400"/>
          </a:xfrm>
          <a:prstGeom prst="can">
            <a:avLst>
              <a:gd fmla="val 2500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localstorage</a:t>
            </a:r>
            <a:endParaRPr/>
          </a:p>
        </p:txBody>
      </p:sp>
      <p:sp>
        <p:nvSpPr>
          <p:cNvPr id="969" name="Google Shape;969;p77"/>
          <p:cNvSpPr/>
          <p:nvPr/>
        </p:nvSpPr>
        <p:spPr>
          <a:xfrm>
            <a:off x="9048975" y="5538250"/>
            <a:ext cx="2331900" cy="563400"/>
          </a:xfrm>
          <a:prstGeom prst="can">
            <a:avLst>
              <a:gd fmla="val 2500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omdb api</a:t>
            </a:r>
            <a:endParaRPr/>
          </a:p>
        </p:txBody>
      </p:sp>
      <p:grpSp>
        <p:nvGrpSpPr>
          <p:cNvPr id="970" name="Google Shape;970;p77"/>
          <p:cNvGrpSpPr/>
          <p:nvPr/>
        </p:nvGrpSpPr>
        <p:grpSpPr>
          <a:xfrm>
            <a:off x="8451352" y="3584461"/>
            <a:ext cx="3101534" cy="1281321"/>
            <a:chOff x="4527625" y="3628215"/>
            <a:chExt cx="4256257" cy="1153200"/>
          </a:xfrm>
        </p:grpSpPr>
        <p:sp>
          <p:nvSpPr>
            <p:cNvPr id="971" name="Google Shape;971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API </a:t>
              </a:r>
              <a:r>
                <a:rPr lang="en"/>
                <a:t>레이어 ( api ) </a:t>
              </a:r>
              <a:endParaRPr/>
            </a:p>
          </p:txBody>
        </p:sp>
      </p:grpSp>
      <p:sp>
        <p:nvSpPr>
          <p:cNvPr id="973" name="Google Shape;973;p77"/>
          <p:cNvSpPr/>
          <p:nvPr/>
        </p:nvSpPr>
        <p:spPr>
          <a:xfrm>
            <a:off x="8798350" y="4114500"/>
            <a:ext cx="24993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api/movie.js</a:t>
            </a:r>
            <a:endParaRPr/>
          </a:p>
        </p:txBody>
      </p:sp>
      <p:grpSp>
        <p:nvGrpSpPr>
          <p:cNvPr id="974" name="Google Shape;974;p77"/>
          <p:cNvGrpSpPr/>
          <p:nvPr/>
        </p:nvGrpSpPr>
        <p:grpSpPr>
          <a:xfrm>
            <a:off x="1443646" y="3838161"/>
            <a:ext cx="5096867" cy="1281321"/>
            <a:chOff x="4527625" y="3628215"/>
            <a:chExt cx="4256257" cy="1153200"/>
          </a:xfrm>
        </p:grpSpPr>
        <p:sp>
          <p:nvSpPr>
            <p:cNvPr id="975" name="Google Shape;975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로직</a:t>
              </a:r>
              <a:r>
                <a:rPr lang="en"/>
                <a:t> 레이어 (hooks)</a:t>
              </a:r>
              <a:endParaRPr/>
            </a:p>
          </p:txBody>
        </p:sp>
      </p:grpSp>
      <p:sp>
        <p:nvSpPr>
          <p:cNvPr id="977" name="Google Shape;977;p77"/>
          <p:cNvSpPr/>
          <p:nvPr/>
        </p:nvSpPr>
        <p:spPr>
          <a:xfrm>
            <a:off x="4271525" y="4380900"/>
            <a:ext cx="189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useMovieSearch</a:t>
            </a:r>
            <a:endParaRPr/>
          </a:p>
        </p:txBody>
      </p:sp>
      <p:sp>
        <p:nvSpPr>
          <p:cNvPr id="978" name="Google Shape;978;p77"/>
          <p:cNvSpPr/>
          <p:nvPr/>
        </p:nvSpPr>
        <p:spPr>
          <a:xfrm>
            <a:off x="1779387" y="4380900"/>
            <a:ext cx="189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useFavorite</a:t>
            </a:r>
            <a:endParaRPr/>
          </a:p>
        </p:txBody>
      </p:sp>
      <p:cxnSp>
        <p:nvCxnSpPr>
          <p:cNvPr id="979" name="Google Shape;979;p77"/>
          <p:cNvCxnSpPr>
            <a:stCxn id="969" idx="3"/>
            <a:endCxn id="973" idx="3"/>
          </p:cNvCxnSpPr>
          <p:nvPr/>
        </p:nvCxnSpPr>
        <p:spPr>
          <a:xfrm rot="-5400000">
            <a:off x="9903525" y="4707550"/>
            <a:ext cx="1705500" cy="1082700"/>
          </a:xfrm>
          <a:prstGeom prst="bentConnector4">
            <a:avLst>
              <a:gd fmla="val -13962" name="adj1"/>
              <a:gd fmla="val 1612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77"/>
          <p:cNvCxnSpPr>
            <a:stCxn id="968" idx="2"/>
            <a:endCxn id="978" idx="2"/>
          </p:cNvCxnSpPr>
          <p:nvPr/>
        </p:nvCxnSpPr>
        <p:spPr>
          <a:xfrm rot="10800000">
            <a:off x="2727175" y="4944250"/>
            <a:ext cx="4578600" cy="87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1" name="Google Shape;981;p77"/>
          <p:cNvCxnSpPr>
            <a:stCxn id="973" idx="1"/>
            <a:endCxn id="977" idx="3"/>
          </p:cNvCxnSpPr>
          <p:nvPr/>
        </p:nvCxnSpPr>
        <p:spPr>
          <a:xfrm flipH="1">
            <a:off x="6167350" y="4396200"/>
            <a:ext cx="2631000" cy="2664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77"/>
          <p:cNvCxnSpPr>
            <a:stCxn id="954" idx="0"/>
            <a:endCxn id="946" idx="2"/>
          </p:cNvCxnSpPr>
          <p:nvPr/>
        </p:nvCxnSpPr>
        <p:spPr>
          <a:xfrm rot="10800000">
            <a:off x="1385897" y="1801755"/>
            <a:ext cx="1341300" cy="34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</a:t>
            </a:r>
            <a:endParaRPr/>
          </a:p>
        </p:txBody>
      </p:sp>
      <p:sp>
        <p:nvSpPr>
          <p:cNvPr id="988" name="Google Shape;988;p78"/>
          <p:cNvSpPr/>
          <p:nvPr/>
        </p:nvSpPr>
        <p:spPr>
          <a:xfrm>
            <a:off x="3142375" y="907975"/>
            <a:ext cx="2109900" cy="5607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localstorage</a:t>
            </a:r>
            <a:endParaRPr/>
          </a:p>
        </p:txBody>
      </p:sp>
      <p:sp>
        <p:nvSpPr>
          <p:cNvPr id="989" name="Google Shape;989;p78"/>
          <p:cNvSpPr/>
          <p:nvPr/>
        </p:nvSpPr>
        <p:spPr>
          <a:xfrm>
            <a:off x="3142375" y="186940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useFavorites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목록, toggle. 저정</a:t>
            </a:r>
            <a:endParaRPr/>
          </a:p>
        </p:txBody>
      </p:sp>
      <p:cxnSp>
        <p:nvCxnSpPr>
          <p:cNvPr id="990" name="Google Shape;990;p78"/>
          <p:cNvCxnSpPr>
            <a:stCxn id="989" idx="0"/>
            <a:endCxn id="988" idx="3"/>
          </p:cNvCxnSpPr>
          <p:nvPr/>
        </p:nvCxnSpPr>
        <p:spPr>
          <a:xfrm rot="10800000">
            <a:off x="4197325" y="1468600"/>
            <a:ext cx="132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78"/>
          <p:cNvSpPr/>
          <p:nvPr/>
        </p:nvSpPr>
        <p:spPr>
          <a:xfrm>
            <a:off x="3142375" y="275175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FavoriteContext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앱 전체 공유</a:t>
            </a:r>
            <a:endParaRPr/>
          </a:p>
        </p:txBody>
      </p:sp>
      <p:sp>
        <p:nvSpPr>
          <p:cNvPr id="992" name="Google Shape;992;p78"/>
          <p:cNvSpPr/>
          <p:nvPr/>
        </p:nvSpPr>
        <p:spPr>
          <a:xfrm>
            <a:off x="125700" y="395455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MovieCard (</a:t>
            </a:r>
            <a:r>
              <a:rPr lang="en"/>
              <a:t>즐겨찾기버튼)</a:t>
            </a:r>
            <a:endParaRPr/>
          </a:p>
        </p:txBody>
      </p:sp>
      <p:sp>
        <p:nvSpPr>
          <p:cNvPr id="993" name="Google Shape;993;p78"/>
          <p:cNvSpPr/>
          <p:nvPr/>
        </p:nvSpPr>
        <p:spPr>
          <a:xfrm>
            <a:off x="2565900" y="395455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Navbar (</a:t>
            </a:r>
            <a:r>
              <a:rPr lang="en"/>
              <a:t>배지)</a:t>
            </a:r>
            <a:endParaRPr/>
          </a:p>
        </p:txBody>
      </p:sp>
      <p:sp>
        <p:nvSpPr>
          <p:cNvPr id="994" name="Google Shape;994;p78"/>
          <p:cNvSpPr/>
          <p:nvPr/>
        </p:nvSpPr>
        <p:spPr>
          <a:xfrm>
            <a:off x="4925975" y="395455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MovieDetailView (</a:t>
            </a:r>
            <a:r>
              <a:rPr lang="en"/>
              <a:t>즐겨찾기 버튼)</a:t>
            </a:r>
            <a:r>
              <a:rPr lang="en"/>
              <a:t> </a:t>
            </a:r>
            <a:endParaRPr/>
          </a:p>
        </p:txBody>
      </p:sp>
      <p:sp>
        <p:nvSpPr>
          <p:cNvPr id="995" name="Google Shape;995;p78"/>
          <p:cNvSpPr/>
          <p:nvPr/>
        </p:nvSpPr>
        <p:spPr>
          <a:xfrm>
            <a:off x="7286050" y="3954550"/>
            <a:ext cx="2136300" cy="5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 </a:t>
            </a:r>
            <a:r>
              <a:rPr lang="en"/>
              <a:t>페이지</a:t>
            </a:r>
            <a:endParaRPr/>
          </a:p>
        </p:txBody>
      </p:sp>
      <p:cxnSp>
        <p:nvCxnSpPr>
          <p:cNvPr id="996" name="Google Shape;996;p78"/>
          <p:cNvCxnSpPr>
            <a:stCxn id="992" idx="0"/>
            <a:endCxn id="991" idx="2"/>
          </p:cNvCxnSpPr>
          <p:nvPr/>
        </p:nvCxnSpPr>
        <p:spPr>
          <a:xfrm rot="-5400000">
            <a:off x="2372400" y="2116300"/>
            <a:ext cx="659700" cy="301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7" name="Google Shape;997;p78"/>
          <p:cNvCxnSpPr>
            <a:stCxn id="993" idx="0"/>
            <a:endCxn id="991" idx="2"/>
          </p:cNvCxnSpPr>
          <p:nvPr/>
        </p:nvCxnSpPr>
        <p:spPr>
          <a:xfrm rot="-5400000">
            <a:off x="3592500" y="3336400"/>
            <a:ext cx="659700" cy="5766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8" name="Google Shape;998;p78"/>
          <p:cNvCxnSpPr>
            <a:stCxn id="994" idx="0"/>
            <a:endCxn id="991" idx="2"/>
          </p:cNvCxnSpPr>
          <p:nvPr/>
        </p:nvCxnSpPr>
        <p:spPr>
          <a:xfrm flipH="1" rot="5400000">
            <a:off x="4772525" y="2732950"/>
            <a:ext cx="659700" cy="17835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9" name="Google Shape;999;p78"/>
          <p:cNvCxnSpPr>
            <a:stCxn id="995" idx="0"/>
            <a:endCxn id="991" idx="2"/>
          </p:cNvCxnSpPr>
          <p:nvPr/>
        </p:nvCxnSpPr>
        <p:spPr>
          <a:xfrm flipH="1" rot="5400000">
            <a:off x="5952550" y="1552900"/>
            <a:ext cx="659700" cy="41436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0" name="Google Shape;1000;p78"/>
          <p:cNvCxnSpPr>
            <a:stCxn id="991" idx="0"/>
            <a:endCxn id="989" idx="2"/>
          </p:cNvCxnSpPr>
          <p:nvPr/>
        </p:nvCxnSpPr>
        <p:spPr>
          <a:xfrm rot="-5400000">
            <a:off x="4041175" y="2581800"/>
            <a:ext cx="3393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Outlet</a:t>
            </a:r>
            <a:endParaRPr/>
          </a:p>
        </p:txBody>
      </p:sp>
      <p:sp>
        <p:nvSpPr>
          <p:cNvPr id="1006" name="Google Shape;1006;p79"/>
          <p:cNvSpPr/>
          <p:nvPr/>
        </p:nvSpPr>
        <p:spPr>
          <a:xfrm>
            <a:off x="945800" y="1442175"/>
            <a:ext cx="73584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9"/>
          <p:cNvSpPr/>
          <p:nvPr/>
        </p:nvSpPr>
        <p:spPr>
          <a:xfrm>
            <a:off x="1200675" y="1576325"/>
            <a:ext cx="1039800" cy="40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로고</a:t>
            </a:r>
            <a:endParaRPr/>
          </a:p>
        </p:txBody>
      </p:sp>
      <p:sp>
        <p:nvSpPr>
          <p:cNvPr id="1008" name="Google Shape;1008;p79"/>
          <p:cNvSpPr txBox="1"/>
          <p:nvPr/>
        </p:nvSpPr>
        <p:spPr>
          <a:xfrm>
            <a:off x="2535525" y="1573575"/>
            <a:ext cx="38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</a:rPr>
              <a:t>홈</a:t>
            </a:r>
            <a:r>
              <a:rPr lang="en" sz="1800">
                <a:solidFill>
                  <a:schemeClr val="dk2"/>
                </a:solidFill>
              </a:rPr>
              <a:t>     </a:t>
            </a:r>
            <a:r>
              <a:rPr lang="en" sz="1800" u="sng">
                <a:solidFill>
                  <a:schemeClr val="dk2"/>
                </a:solidFill>
              </a:rPr>
              <a:t>상품</a:t>
            </a:r>
            <a:r>
              <a:rPr lang="en" sz="1800">
                <a:solidFill>
                  <a:schemeClr val="dk2"/>
                </a:solidFill>
              </a:rPr>
              <a:t>      </a:t>
            </a:r>
            <a:r>
              <a:rPr lang="en" sz="1800" u="sng">
                <a:solidFill>
                  <a:schemeClr val="dk2"/>
                </a:solidFill>
              </a:rPr>
              <a:t>카트 </a:t>
            </a:r>
            <a:endParaRPr sz="1800" u="sng">
              <a:solidFill>
                <a:schemeClr val="dk2"/>
              </a:solidFill>
            </a:endParaRPr>
          </a:p>
        </p:txBody>
      </p:sp>
      <p:sp>
        <p:nvSpPr>
          <p:cNvPr id="1009" name="Google Shape;1009;p79"/>
          <p:cNvSpPr/>
          <p:nvPr/>
        </p:nvSpPr>
        <p:spPr>
          <a:xfrm>
            <a:off x="6010150" y="953425"/>
            <a:ext cx="2112900" cy="636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navbar</a:t>
            </a:r>
            <a:endParaRPr/>
          </a:p>
        </p:txBody>
      </p:sp>
      <p:sp>
        <p:nvSpPr>
          <p:cNvPr id="1010" name="Google Shape;1010;p79"/>
          <p:cNvSpPr/>
          <p:nvPr/>
        </p:nvSpPr>
        <p:spPr>
          <a:xfrm>
            <a:off x="919650" y="2366075"/>
            <a:ext cx="7358400" cy="308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9"/>
          <p:cNvSpPr/>
          <p:nvPr/>
        </p:nvSpPr>
        <p:spPr>
          <a:xfrm>
            <a:off x="6927250" y="2433975"/>
            <a:ext cx="2112900" cy="636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outlet</a:t>
            </a:r>
            <a:endParaRPr/>
          </a:p>
        </p:txBody>
      </p:sp>
      <p:sp>
        <p:nvSpPr>
          <p:cNvPr id="1012" name="Google Shape;1012;p79"/>
          <p:cNvSpPr txBox="1"/>
          <p:nvPr/>
        </p:nvSpPr>
        <p:spPr>
          <a:xfrm>
            <a:off x="2166625" y="773300"/>
            <a:ext cx="1341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/home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3" name="Google Shape;1013;p79"/>
          <p:cNvSpPr txBox="1"/>
          <p:nvPr/>
        </p:nvSpPr>
        <p:spPr>
          <a:xfrm>
            <a:off x="3146600" y="701275"/>
            <a:ext cx="1643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</a:t>
            </a:r>
            <a:r>
              <a:rPr lang="en" sz="1800">
                <a:solidFill>
                  <a:schemeClr val="dk2"/>
                </a:solidFill>
              </a:rPr>
              <a:t>products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4" name="Google Shape;1014;p79"/>
          <p:cNvSpPr txBox="1"/>
          <p:nvPr/>
        </p:nvSpPr>
        <p:spPr>
          <a:xfrm>
            <a:off x="4371600" y="850363"/>
            <a:ext cx="1341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/cart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5" name="Google Shape;1015;p79"/>
          <p:cNvSpPr txBox="1"/>
          <p:nvPr/>
        </p:nvSpPr>
        <p:spPr>
          <a:xfrm>
            <a:off x="1480550" y="3089825"/>
            <a:ext cx="1341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/home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6" name="Google Shape;1016;p79"/>
          <p:cNvSpPr/>
          <p:nvPr/>
        </p:nvSpPr>
        <p:spPr>
          <a:xfrm>
            <a:off x="2870925" y="3172775"/>
            <a:ext cx="731100" cy="37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79"/>
          <p:cNvSpPr/>
          <p:nvPr/>
        </p:nvSpPr>
        <p:spPr>
          <a:xfrm>
            <a:off x="3950875" y="2844075"/>
            <a:ext cx="2555700" cy="90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Home.tsx</a:t>
            </a:r>
            <a:endParaRPr/>
          </a:p>
        </p:txBody>
      </p:sp>
      <p:sp>
        <p:nvSpPr>
          <p:cNvPr id="1018" name="Google Shape;1018;p79"/>
          <p:cNvSpPr txBox="1"/>
          <p:nvPr/>
        </p:nvSpPr>
        <p:spPr>
          <a:xfrm>
            <a:off x="1227525" y="4052350"/>
            <a:ext cx="1643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/products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9" name="Google Shape;1019;p79"/>
          <p:cNvSpPr/>
          <p:nvPr/>
        </p:nvSpPr>
        <p:spPr>
          <a:xfrm>
            <a:off x="2870925" y="4135300"/>
            <a:ext cx="731100" cy="37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79"/>
          <p:cNvSpPr/>
          <p:nvPr/>
        </p:nvSpPr>
        <p:spPr>
          <a:xfrm>
            <a:off x="3950875" y="4020050"/>
            <a:ext cx="2555700" cy="90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Products.tsx</a:t>
            </a:r>
            <a:endParaRPr/>
          </a:p>
        </p:txBody>
      </p:sp>
      <p:sp>
        <p:nvSpPr>
          <p:cNvPr id="1021" name="Google Shape;1021;p79"/>
          <p:cNvSpPr txBox="1"/>
          <p:nvPr/>
        </p:nvSpPr>
        <p:spPr>
          <a:xfrm>
            <a:off x="1227525" y="5093275"/>
            <a:ext cx="1643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/carts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2" name="Google Shape;1022;p79"/>
          <p:cNvSpPr/>
          <p:nvPr/>
        </p:nvSpPr>
        <p:spPr>
          <a:xfrm>
            <a:off x="2822150" y="5097825"/>
            <a:ext cx="731100" cy="37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79"/>
          <p:cNvSpPr/>
          <p:nvPr/>
        </p:nvSpPr>
        <p:spPr>
          <a:xfrm>
            <a:off x="3950875" y="5132050"/>
            <a:ext cx="2555700" cy="90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Cart.tsx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383676" cy="48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0"/>
          <p:cNvSpPr/>
          <p:nvPr/>
        </p:nvSpPr>
        <p:spPr>
          <a:xfrm>
            <a:off x="1442175" y="4105150"/>
            <a:ext cx="7311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담기</a:t>
            </a:r>
            <a:endParaRPr/>
          </a:p>
        </p:txBody>
      </p:sp>
      <p:sp>
        <p:nvSpPr>
          <p:cNvPr id="1030" name="Google Shape;1030;p80"/>
          <p:cNvSpPr/>
          <p:nvPr/>
        </p:nvSpPr>
        <p:spPr>
          <a:xfrm>
            <a:off x="3472750" y="4150225"/>
            <a:ext cx="7311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담기</a:t>
            </a:r>
            <a:endParaRPr/>
          </a:p>
        </p:txBody>
      </p:sp>
      <p:sp>
        <p:nvSpPr>
          <p:cNvPr id="1031" name="Google Shape;1031;p80"/>
          <p:cNvSpPr/>
          <p:nvPr/>
        </p:nvSpPr>
        <p:spPr>
          <a:xfrm>
            <a:off x="5463075" y="4188600"/>
            <a:ext cx="7311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담기</a:t>
            </a:r>
            <a:endParaRPr/>
          </a:p>
        </p:txBody>
      </p:sp>
      <p:sp>
        <p:nvSpPr>
          <p:cNvPr id="1032" name="Google Shape;1032;p80"/>
          <p:cNvSpPr/>
          <p:nvPr/>
        </p:nvSpPr>
        <p:spPr>
          <a:xfrm>
            <a:off x="4457925" y="152400"/>
            <a:ext cx="20244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장바구니담은 갯수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1"/>
          <p:cNvSpPr/>
          <p:nvPr/>
        </p:nvSpPr>
        <p:spPr>
          <a:xfrm>
            <a:off x="1038496" y="1064950"/>
            <a:ext cx="2414400" cy="87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ProductCard.tsx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 </a:t>
            </a:r>
            <a:r>
              <a:rPr lang="en"/>
              <a:t>장바구니담기</a:t>
            </a:r>
            <a:endParaRPr/>
          </a:p>
        </p:txBody>
      </p:sp>
      <p:sp>
        <p:nvSpPr>
          <p:cNvPr id="1038" name="Google Shape;1038;p81"/>
          <p:cNvSpPr/>
          <p:nvPr/>
        </p:nvSpPr>
        <p:spPr>
          <a:xfrm>
            <a:off x="1038496" y="2288925"/>
            <a:ext cx="2414400" cy="87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ProductDetail.tsx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장바구니담기</a:t>
            </a:r>
            <a:endParaRPr/>
          </a:p>
        </p:txBody>
      </p:sp>
      <p:sp>
        <p:nvSpPr>
          <p:cNvPr id="1039" name="Google Shape;1039;p81"/>
          <p:cNvSpPr/>
          <p:nvPr/>
        </p:nvSpPr>
        <p:spPr>
          <a:xfrm>
            <a:off x="1038500" y="3598900"/>
            <a:ext cx="2414400" cy="101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Cart.tsx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장바구니수량늘리기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장바구니에서 항목삭제</a:t>
            </a:r>
            <a:endParaRPr/>
          </a:p>
        </p:txBody>
      </p:sp>
      <p:sp>
        <p:nvSpPr>
          <p:cNvPr id="1040" name="Google Shape;1040;p81"/>
          <p:cNvSpPr/>
          <p:nvPr/>
        </p:nvSpPr>
        <p:spPr>
          <a:xfrm>
            <a:off x="4141000" y="1474900"/>
            <a:ext cx="1620300" cy="237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장바구니담기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장바구니수량늘리기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장바구니항목삭제</a:t>
            </a:r>
            <a:endParaRPr/>
          </a:p>
        </p:txBody>
      </p:sp>
      <p:sp>
        <p:nvSpPr>
          <p:cNvPr id="1041" name="Google Shape;1041;p81"/>
          <p:cNvSpPr/>
          <p:nvPr/>
        </p:nvSpPr>
        <p:spPr>
          <a:xfrm>
            <a:off x="6324075" y="1474900"/>
            <a:ext cx="1620300" cy="237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재고,수량,규칙 전부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여기서 관리 </a:t>
            </a:r>
            <a:endParaRPr/>
          </a:p>
        </p:txBody>
      </p:sp>
      <p:cxnSp>
        <p:nvCxnSpPr>
          <p:cNvPr id="1042" name="Google Shape;1042;p81"/>
          <p:cNvCxnSpPr>
            <a:stCxn id="1037" idx="3"/>
            <a:endCxn id="1040" idx="1"/>
          </p:cNvCxnSpPr>
          <p:nvPr/>
        </p:nvCxnSpPr>
        <p:spPr>
          <a:xfrm>
            <a:off x="3452896" y="1504750"/>
            <a:ext cx="688200" cy="11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3" name="Google Shape;1043;p81"/>
          <p:cNvCxnSpPr>
            <a:stCxn id="1038" idx="3"/>
            <a:endCxn id="1040" idx="1"/>
          </p:cNvCxnSpPr>
          <p:nvPr/>
        </p:nvCxnSpPr>
        <p:spPr>
          <a:xfrm flipH="1" rot="10800000">
            <a:off x="3452896" y="2662425"/>
            <a:ext cx="688200" cy="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4" name="Google Shape;1044;p81"/>
          <p:cNvCxnSpPr>
            <a:stCxn id="1039" idx="3"/>
            <a:endCxn id="1040" idx="1"/>
          </p:cNvCxnSpPr>
          <p:nvPr/>
        </p:nvCxnSpPr>
        <p:spPr>
          <a:xfrm flipH="1" rot="10800000">
            <a:off x="3452900" y="2662300"/>
            <a:ext cx="688200" cy="14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5" name="Google Shape;1045;p81"/>
          <p:cNvCxnSpPr>
            <a:stCxn id="1040" idx="3"/>
            <a:endCxn id="1041" idx="1"/>
          </p:cNvCxnSpPr>
          <p:nvPr/>
        </p:nvCxnSpPr>
        <p:spPr>
          <a:xfrm>
            <a:off x="5761300" y="2662300"/>
            <a:ext cx="56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Math.min(quantity + 1, product.stock)</a:t>
            </a:r>
            <a:endParaRPr/>
          </a:p>
        </p:txBody>
      </p:sp>
      <p:graphicFrame>
        <p:nvGraphicFramePr>
          <p:cNvPr id="1051" name="Google Shape;1051;p82"/>
          <p:cNvGraphicFramePr/>
          <p:nvPr/>
        </p:nvGraphicFramePr>
        <p:xfrm>
          <a:off x="1022085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지금수량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quantity + 1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Math.min(.,..) </a:t>
                      </a:r>
                      <a:r>
                        <a:rPr lang="en"/>
                        <a:t>결과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Math.min(3, 5) =&gt;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Math.min(4,5) =&gt;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Main.min(5,6) =&gt; 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2" name="Google Shape;1052;p82"/>
          <p:cNvSpPr txBox="1"/>
          <p:nvPr/>
        </p:nvSpPr>
        <p:spPr>
          <a:xfrm>
            <a:off x="952500" y="1349400"/>
            <a:ext cx="381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이 제품의 제고는 5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예전 방식 JSP) 인증 </a:t>
            </a:r>
            <a:endParaRPr/>
          </a:p>
        </p:txBody>
      </p:sp>
      <p:sp>
        <p:nvSpPr>
          <p:cNvPr id="1058" name="Google Shape;1058;p83"/>
          <p:cNvSpPr/>
          <p:nvPr/>
        </p:nvSpPr>
        <p:spPr>
          <a:xfrm>
            <a:off x="529900" y="1287900"/>
            <a:ext cx="2944800" cy="31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로그인 (아이디/패스워드)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83"/>
          <p:cNvSpPr/>
          <p:nvPr/>
        </p:nvSpPr>
        <p:spPr>
          <a:xfrm>
            <a:off x="637225" y="1408625"/>
            <a:ext cx="2643000" cy="29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83"/>
          <p:cNvSpPr/>
          <p:nvPr/>
        </p:nvSpPr>
        <p:spPr>
          <a:xfrm>
            <a:off x="900625" y="2446500"/>
            <a:ext cx="2116200" cy="4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E9E9E"/>
                </a:solidFill>
              </a:rPr>
              <a:t>아이디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1061" name="Google Shape;1061;p83"/>
          <p:cNvSpPr/>
          <p:nvPr/>
        </p:nvSpPr>
        <p:spPr>
          <a:xfrm>
            <a:off x="900625" y="3001375"/>
            <a:ext cx="2116200" cy="4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E9E9E"/>
                </a:solidFill>
              </a:rPr>
              <a:t>비밀번호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1062" name="Google Shape;1062;p83"/>
          <p:cNvSpPr/>
          <p:nvPr/>
        </p:nvSpPr>
        <p:spPr>
          <a:xfrm>
            <a:off x="900625" y="3643425"/>
            <a:ext cx="2116200" cy="41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로그인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3" name="Google Shape;1063;p83"/>
          <p:cNvSpPr/>
          <p:nvPr/>
        </p:nvSpPr>
        <p:spPr>
          <a:xfrm>
            <a:off x="5615100" y="1198825"/>
            <a:ext cx="2944800" cy="31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4" name="Google Shape;1064;p83"/>
          <p:cNvCxnSpPr/>
          <p:nvPr/>
        </p:nvCxnSpPr>
        <p:spPr>
          <a:xfrm flipH="1" rot="10800000">
            <a:off x="3461200" y="2025775"/>
            <a:ext cx="2119800" cy="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5" name="Google Shape;1065;p83"/>
          <p:cNvSpPr txBox="1"/>
          <p:nvPr/>
        </p:nvSpPr>
        <p:spPr>
          <a:xfrm>
            <a:off x="3528900" y="1347425"/>
            <a:ext cx="20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아이디 패스워드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66" name="Google Shape;1066;p83"/>
          <p:cNvSpPr txBox="1"/>
          <p:nvPr/>
        </p:nvSpPr>
        <p:spPr>
          <a:xfrm>
            <a:off x="5846000" y="2446500"/>
            <a:ext cx="25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2)  session ID 발급 받아서 저장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67" name="Google Shape;1067;p83"/>
          <p:cNvSpPr txBox="1"/>
          <p:nvPr/>
        </p:nvSpPr>
        <p:spPr>
          <a:xfrm>
            <a:off x="5760700" y="1931875"/>
            <a:ext cx="30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arenR"/>
            </a:pPr>
            <a:r>
              <a:rPr lang="en">
                <a:solidFill>
                  <a:schemeClr val="dk2"/>
                </a:solidFill>
              </a:rPr>
              <a:t>아이디 패스워드 </a:t>
            </a:r>
            <a:r>
              <a:rPr lang="en">
                <a:solidFill>
                  <a:schemeClr val="dk2"/>
                </a:solidFill>
              </a:rPr>
              <a:t>정합성 체크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68" name="Google Shape;1068;p83"/>
          <p:cNvCxnSpPr/>
          <p:nvPr/>
        </p:nvCxnSpPr>
        <p:spPr>
          <a:xfrm flipH="1">
            <a:off x="3482975" y="3084975"/>
            <a:ext cx="2118300" cy="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9" name="Google Shape;1069;p83"/>
          <p:cNvSpPr txBox="1"/>
          <p:nvPr/>
        </p:nvSpPr>
        <p:spPr>
          <a:xfrm>
            <a:off x="3528900" y="2657400"/>
            <a:ext cx="20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브라우저에 쿠키를 발급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70" name="Google Shape;1070;p83"/>
          <p:cNvCxnSpPr/>
          <p:nvPr/>
        </p:nvCxnSpPr>
        <p:spPr>
          <a:xfrm flipH="1" rot="10800000">
            <a:off x="3461200" y="3967375"/>
            <a:ext cx="2119800" cy="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1" name="Google Shape;1071;p83"/>
          <p:cNvSpPr txBox="1"/>
          <p:nvPr/>
        </p:nvSpPr>
        <p:spPr>
          <a:xfrm>
            <a:off x="3528900" y="3412375"/>
            <a:ext cx="20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매 요청마다 서버에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쿠키를 같이 전달해주면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2" name="Google Shape;1072;p83"/>
          <p:cNvSpPr txBox="1"/>
          <p:nvPr/>
        </p:nvSpPr>
        <p:spPr>
          <a:xfrm>
            <a:off x="5909025" y="3561775"/>
            <a:ext cx="255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3)</a:t>
            </a:r>
            <a:r>
              <a:rPr lang="en">
                <a:solidFill>
                  <a:schemeClr val="dk2"/>
                </a:solidFill>
              </a:rPr>
              <a:t>  </a:t>
            </a:r>
            <a:r>
              <a:rPr lang="en">
                <a:solidFill>
                  <a:schemeClr val="dk2"/>
                </a:solidFill>
              </a:rPr>
              <a:t>쿠키를 이용해서 sessionID 를 찾아서 조회 인증정보를 가지고와요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리액트 에서 인증 </a:t>
            </a:r>
            <a:endParaRPr/>
          </a:p>
        </p:txBody>
      </p:sp>
      <p:sp>
        <p:nvSpPr>
          <p:cNvPr id="1078" name="Google Shape;1078;p84"/>
          <p:cNvSpPr/>
          <p:nvPr/>
        </p:nvSpPr>
        <p:spPr>
          <a:xfrm>
            <a:off x="529900" y="1287900"/>
            <a:ext cx="2944800" cy="31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로그인 (아이디/패스워드)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84"/>
          <p:cNvSpPr/>
          <p:nvPr/>
        </p:nvSpPr>
        <p:spPr>
          <a:xfrm>
            <a:off x="637225" y="1408625"/>
            <a:ext cx="2643000" cy="29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84"/>
          <p:cNvSpPr/>
          <p:nvPr/>
        </p:nvSpPr>
        <p:spPr>
          <a:xfrm>
            <a:off x="900625" y="2446500"/>
            <a:ext cx="2116200" cy="4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E9E9E"/>
                </a:solidFill>
              </a:rPr>
              <a:t>아이디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1081" name="Google Shape;1081;p84"/>
          <p:cNvSpPr/>
          <p:nvPr/>
        </p:nvSpPr>
        <p:spPr>
          <a:xfrm>
            <a:off x="900625" y="3001375"/>
            <a:ext cx="2116200" cy="4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E9E9E"/>
                </a:solidFill>
              </a:rPr>
              <a:t>비밀번호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1082" name="Google Shape;1082;p84"/>
          <p:cNvSpPr/>
          <p:nvPr/>
        </p:nvSpPr>
        <p:spPr>
          <a:xfrm>
            <a:off x="900625" y="3643425"/>
            <a:ext cx="2116200" cy="41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로그인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83" name="Google Shape;1083;p84"/>
          <p:cNvCxnSpPr/>
          <p:nvPr/>
        </p:nvCxnSpPr>
        <p:spPr>
          <a:xfrm flipH="1" rot="10800000">
            <a:off x="3461200" y="2025775"/>
            <a:ext cx="2119800" cy="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4" name="Google Shape;1084;p84"/>
          <p:cNvSpPr txBox="1"/>
          <p:nvPr/>
        </p:nvSpPr>
        <p:spPr>
          <a:xfrm>
            <a:off x="3528900" y="1347425"/>
            <a:ext cx="20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아이디 패스워드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85" name="Google Shape;1085;p84"/>
          <p:cNvCxnSpPr/>
          <p:nvPr/>
        </p:nvCxnSpPr>
        <p:spPr>
          <a:xfrm flipH="1">
            <a:off x="3482975" y="3084975"/>
            <a:ext cx="2118300" cy="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6" name="Google Shape;1086;p84"/>
          <p:cNvSpPr txBox="1"/>
          <p:nvPr/>
        </p:nvSpPr>
        <p:spPr>
          <a:xfrm>
            <a:off x="3528900" y="2657400"/>
            <a:ext cx="208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JWT 토큰 (유효한 만료일자, 14일)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87" name="Google Shape;1087;p84"/>
          <p:cNvCxnSpPr/>
          <p:nvPr/>
        </p:nvCxnSpPr>
        <p:spPr>
          <a:xfrm flipH="1" rot="10800000">
            <a:off x="3461200" y="3967375"/>
            <a:ext cx="2119800" cy="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8" name="Google Shape;1088;p84"/>
          <p:cNvSpPr txBox="1"/>
          <p:nvPr/>
        </p:nvSpPr>
        <p:spPr>
          <a:xfrm>
            <a:off x="3528900" y="4372425"/>
            <a:ext cx="227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매 요청마다  JWT </a:t>
            </a:r>
            <a:r>
              <a:rPr lang="en">
                <a:solidFill>
                  <a:schemeClr val="dk2"/>
                </a:solidFill>
              </a:rPr>
              <a:t>토큰을 전달 해주면되여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JWT ( 이름, email, 사용자 ID)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89" name="Google Shape;1089;p84"/>
          <p:cNvSpPr/>
          <p:nvPr/>
        </p:nvSpPr>
        <p:spPr>
          <a:xfrm>
            <a:off x="5669300" y="1376325"/>
            <a:ext cx="2944800" cy="317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4"/>
          <p:cNvSpPr txBox="1"/>
          <p:nvPr/>
        </p:nvSpPr>
        <p:spPr>
          <a:xfrm>
            <a:off x="5846000" y="2446500"/>
            <a:ext cx="25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2)   JWT </a:t>
            </a:r>
            <a:r>
              <a:rPr lang="en">
                <a:solidFill>
                  <a:schemeClr val="dk2"/>
                </a:solidFill>
              </a:rPr>
              <a:t>를 만들고 클라이언트에 전달  - scret key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1" name="Google Shape;1091;p84"/>
          <p:cNvSpPr txBox="1"/>
          <p:nvPr/>
        </p:nvSpPr>
        <p:spPr>
          <a:xfrm>
            <a:off x="5760700" y="1931875"/>
            <a:ext cx="30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arenR"/>
            </a:pPr>
            <a:r>
              <a:rPr lang="en">
                <a:solidFill>
                  <a:schemeClr val="dk2"/>
                </a:solidFill>
              </a:rPr>
              <a:t>아이디 패스워드 정합성 체크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2" name="Google Shape;1092;p84"/>
          <p:cNvSpPr txBox="1"/>
          <p:nvPr/>
        </p:nvSpPr>
        <p:spPr>
          <a:xfrm>
            <a:off x="5854400" y="3541125"/>
            <a:ext cx="255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3) JWT 를 받아서 서버에 인증 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secret key JWT 의 유효성을 체크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3" name="Google Shape;1093;p84"/>
          <p:cNvSpPr/>
          <p:nvPr/>
        </p:nvSpPr>
        <p:spPr>
          <a:xfrm>
            <a:off x="3056550" y="3639775"/>
            <a:ext cx="973800" cy="6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client.ts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vs JWT</a:t>
            </a:r>
            <a:endParaRPr/>
          </a:p>
        </p:txBody>
      </p:sp>
      <p:graphicFrame>
        <p:nvGraphicFramePr>
          <p:cNvPr id="1099" name="Google Shape;1099;p85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{07A401E2-67D2-43E1-A663-688EA8EBCC4E}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JSESSIONID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JWT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상태 위치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서버세션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토큰 자체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로그아웃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세션 삭제하면 즉시무효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acess </a:t>
                      </a:r>
                      <a:r>
                        <a:rPr lang="en"/>
                        <a:t>토큰이 만료까지 유효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xss </a:t>
                      </a:r>
                      <a:r>
                        <a:rPr lang="en"/>
                        <a:t>위험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상대적으로 안전할수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localstorage </a:t>
                      </a:r>
                      <a:r>
                        <a:rPr lang="en"/>
                        <a:t>저장하면 상대적으로 탈취 취약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확장성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세션 스토어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JWT </a:t>
                      </a:r>
                      <a:r>
                        <a:rPr lang="en"/>
                        <a:t>검증키(secret key)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